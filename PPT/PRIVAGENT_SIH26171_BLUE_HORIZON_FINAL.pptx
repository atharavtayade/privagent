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PRIVAGENT is a proposed hybrid architecture. The image is generated concept art, not a screenshot of a working prototype. The privacy gate must complete before a relevant context request is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Proposed stack, subject to benchmarking. ONNX Runtime Web supports browser inference and offers WebGPU and WebAssembly execution providers: https://onnxruntime.ai/docs/tutorials/web/ and https://onnxruntime.ai/docs/tutorials/web/ep-webgpu.html. Transformers.js documents browser inference with WebGPU: https://huggingface.co/docs/transformers.js/guides/webgpu.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Chrome content scripts use DOM access within extension pages: https://developer.chrome.com/docs/extensions/develop/concepts/content-scripts. Browser inference options described by ONNX Runtime Web: https://onnxruntime.ai/docs/tutorials/web/. Risks and mitigations are proposed design choices, not prototype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The five weights and criteria come from the SIH26171 evaluation criteria reproduced in the supplied project blueprint, which cites the SIH 2026 All 226 Problem Statements Master Catalogue, pages 188-189. They are evaluation weights, not measured PRIVAGENT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SIH catalogue reference is cited in the supplied project blueprint. Technical links: https://onnxruntime.ai/docs/tutorials/web/ ; https://huggingface.co/docs/transformers.js/guides/webgpu ; https://developer.chrome.com/docs/extensions/develop/concepts/content-scripts.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24C0-B085-471A-B485-46AF5C97A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FB4F0-8DA0-4255-A3DD-95DF4A93A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F7CF6-DF87-4598-8F81-C24895859F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60792E3-D524-454C-8AFD-A91972900BCB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F8253-8A49-407F-BE7F-F813E9208E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27DA8-D011-4795-BA04-F5E466C18E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5B7E1BAA-A38D-40DE-B22C-DF9BD7D820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DF4E-7B89-4FC7-8F83-2203CE42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C90C-2BEC-47A5-AED6-431B6B47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C9BB-DDA6-4DCA-9534-EE2312DA08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08B7524-32A2-4C20-A58C-BC3BAA1042FC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1A10F-C1D1-4F78-AC78-C2FAEF3EAA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EAD76-0102-467C-83D9-1555A5C0AD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77C3CE7-23F7-4828-823C-E0205DF2C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914B-8C5D-45CF-BAC9-811D145E2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D10FD-95C9-4C05-8898-3F641A9F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2A517-ACF1-42F5-85E3-3CC33B4040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E994447-D6B2-43BB-A877-57F1A267B999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910AA-FE3B-4031-A4C9-B8DD3ACC98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AAF8C-52D4-4AB9-9D0C-57FBE03E0A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41DB31D2-2A87-4F4C-A9AD-05C6CC2B321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0683-410C-4308-A20C-6E0127FD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3D5EC-6A16-44EC-806D-BD6B3D35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199AC-951C-4FA7-AC75-82560BCA578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1CC4398-DE33-4456-A440-04C9588B11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8920E16-BD35-483C-AA6B-346FC7E46DEA}" type="datetime1">
              <a:t>9/30/2026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A05C1E-EE17-466F-9C3C-21B1D39320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1C072E-6B12-4025-A459-9094D05A14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1FC16D9-1635-4844-816A-0A8A2160FA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08CE-C089-47CF-B2D9-D4962B53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3F0FD-4D9C-44F7-83AD-F138D3683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01DDB-98ED-4299-8259-BDB5A3ADF13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6E015-7643-4ED6-A0F8-D0E80CC62B0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7F609-6485-4393-AE29-0086CEA4004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C602381-C3BA-4E55-9D3E-02A7D91BE5C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EAC6F8-5103-4FC0-A69E-5C6AE6469DA8}" type="datetime1">
              <a:t>9/30/2026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A150D67-E720-4F22-84F0-3A0C13AF33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99659A-F0E5-48B4-8E40-A9B39F564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71C4100A-98DE-4944-910A-A93F5CA9F72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5AE8F-64E0-4406-827D-4EA2D2A8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9225CE7-94E4-49EF-BB42-EE2C2996E2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60C6921-0627-4C8F-83D5-0CF936D2FFDD}" type="datetime1">
              <a:t>9/30/2026</a:t>
            </a:fld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CE87EA-FBA3-4A83-B896-4D812A9AEC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5DD67A-A146-4EED-9D15-7148B873E1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6A63342B-5A73-45DC-864D-086DE78037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3AC94F3-8750-4C22-8F1F-0526A3F904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FF08AD7-8103-40F8-983C-E2BA6BB9CBE0}" type="datetime1">
              <a:t>9/30/2026</a:t>
            </a:fld>
            <a:endParaRPr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EC63914-8B66-44DB-AF32-6988667C12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5D84365-7F81-46D1-9E7B-F5655DF1B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B635AFB3-1ACD-44AC-8702-86B1729DF03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DB73-21DD-4F57-84F8-6A0FEB2A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5CF1F-137D-403F-AB7C-FE97EE963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5E34F-B7F0-43DE-9992-197EE5B332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C77DBC-1685-4B42-8C36-B3DE7F3468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DF8C06B4-9380-4A4D-AF49-A3596E17DAF5}" type="datetime1">
              <a:t>9/30/2026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F0F7B0-BE10-40CC-B177-419FA63EC2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EB94E1-00FD-4B43-B5B4-ADD5A567A1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CF15F3-5E77-4C57-9E21-50D6D1D6C02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AF-147B-462D-88E8-1AA5AC36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E934A-1579-418E-B9AE-624CB5437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buNone/>
            </a:pP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B88A5-7EF3-4F18-BC2B-FF127C4A90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F04BCE8-72B0-4D62-BF55-0D8B08C9DD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EF7FDEF1-C582-4E22-9E77-D68326471F28}" type="datetime1">
              <a:t>9/30/2026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7048207-5126-4DD5-A67C-7329DC4144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778D05-CBF9-4D25-90F9-2E72C21A27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1242169A-B3C7-4FB6-967F-AF95F4EB331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D43CF-7E75-4BF4-8C3F-E5BA0310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488DA-03FA-4CFD-97BF-A6771C16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92201-E44F-427F-BB2E-C91C0B7EFF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053C3A68-6922-42D3-8905-ECC2D82A3469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DDB9-0F04-48CA-87F5-4EAD35D8F2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71CE-274D-4D47-B73E-9FD4E0B738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94FDD027-5576-4F27-AAB6-1D994836EE7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73C57-14EA-45B8-9E6E-93D03B75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12364-E1BA-4609-97B8-942261F7C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FC58E-B6C4-4BFC-8E46-8CC7E471B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CB69E9F4-7604-4950-A8B2-8ACDEDB1506E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CEF1-7F16-4630-8356-A64192A0BE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92277-C147-4816-B983-9801D9A1A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fld id="{2957CE61-8714-431B-A40A-01B1C5541AB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E9EB754-5076-45CA-A461-A45CD6DD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/>
          <a:p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E58BFCD-C0B9-4B05-829D-AAFE5C67F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97C8-E1D4-4C57-946B-AC6C7B9E777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780A9602-A9A9-453F-AEF1-37B5837E02CD}" type="datetime1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5BEA8-8F15-4980-9555-D081897F837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9B9F-7BC0-4C27-80B2-54958A774B9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chrome.com/docs/extensions/develop/concepts/content-scripts" TargetMode="External"/><Relationship Id="rId5" Type="http://schemas.openxmlformats.org/officeDocument/2006/relationships/hyperlink" Target="https://huggingface.co/docs/transformers.js/guides/webgpu" TargetMode="External"/><Relationship Id="rId4" Type="http://schemas.openxmlformats.org/officeDocument/2006/relationships/hyperlink" Target="https://onnxruntime.ai/docs/tutorials/we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noGrp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55" name="Picture 4"/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65970" y="1715881"/>
            <a:ext cx="3203509" cy="3426237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F642546C-58A1-4558-9ED1-0E4EF92B8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6400" y="785059"/>
            <a:ext cx="8534400" cy="585279"/>
          </a:xfrm>
        </p:spPr>
        <p:txBody>
          <a:bodyPr/>
          <a:lstStyle/>
          <a:p>
            <a:r>
              <a:rPr dirty="0">
                <a:solidFill>
                  <a:schemeClr val="bg2">
                    <a:lumMod val="10000"/>
                  </a:schemeClr>
                </a:solidFill>
              </a:rPr>
              <a:t>PRIVAGENT</a:t>
            </a:r>
            <a:endParaRPr b="1" dirty="0">
              <a:solidFill>
                <a:schemeClr val="bg2">
                  <a:lumMod val="10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EFD1517-0495-4288-B881-6D77B47FE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 dirty="0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3DDFED-5C4A-49E8-8F7F-1594825419D4}"/>
              </a:ext>
            </a:extLst>
          </p:cNvPr>
          <p:cNvSpPr>
            <a:spLocks noGrp="1"/>
          </p:cNvSpPr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59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0" name="Cover tagline">
            <a:extLst>
              <a:ext uri="{FF2B5EF4-FFF2-40B4-BE49-F238E27FC236}">
                <a16:creationId xmlns:a16="http://schemas.microsoft.com/office/drawing/2014/main" id="{EE5EF828-AED4-4724-9C2F-7C206849BBC2}"/>
              </a:ext>
            </a:extLst>
          </p:cNvPr>
          <p:cNvSpPr>
            <a:spLocks noGrp="1"/>
          </p:cNvSpPr>
          <p:nvPr/>
        </p:nvSpPr>
        <p:spPr>
          <a:xfrm>
            <a:off x="3782564" y="1359193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Privacy-first visual perception for browser agents</a:t>
            </a:r>
          </a:p>
        </p:txBody>
      </p:sp>
      <p:sp>
        <p:nvSpPr>
          <p:cNvPr id="41" name="Cover label Problem Statement ID">
            <a:extLst>
              <a:ext uri="{FF2B5EF4-FFF2-40B4-BE49-F238E27FC236}">
                <a16:creationId xmlns:a16="http://schemas.microsoft.com/office/drawing/2014/main" id="{88BCDC0D-CB47-4C51-A9F6-140E6298CC8A}"/>
              </a:ext>
            </a:extLst>
          </p:cNvPr>
          <p:cNvSpPr>
            <a:spLocks noGrp="1"/>
          </p:cNvSpPr>
          <p:nvPr/>
        </p:nvSpPr>
        <p:spPr>
          <a:xfrm>
            <a:off x="666749" y="2571750"/>
            <a:ext cx="233833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174F87"/>
                </a:solidFill>
                <a:latin typeface="Arial"/>
                <a:ea typeface="Arial"/>
                <a:cs typeface="Arial"/>
              </a:rPr>
              <a:t>Problem Statement ID</a:t>
            </a:r>
          </a:p>
        </p:txBody>
      </p:sp>
      <p:sp>
        <p:nvSpPr>
          <p:cNvPr id="42" name="Cover value Problem Statement ID">
            <a:extLst>
              <a:ext uri="{FF2B5EF4-FFF2-40B4-BE49-F238E27FC236}">
                <a16:creationId xmlns:a16="http://schemas.microsoft.com/office/drawing/2014/main" id="{965D95D1-17BD-4640-8AF8-E399182162F5}"/>
              </a:ext>
            </a:extLst>
          </p:cNvPr>
          <p:cNvSpPr>
            <a:spLocks noGrp="1"/>
          </p:cNvSpPr>
          <p:nvPr/>
        </p:nvSpPr>
        <p:spPr>
          <a:xfrm>
            <a:off x="3289059" y="2577309"/>
            <a:ext cx="3762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SIH26171</a:t>
            </a:r>
          </a:p>
        </p:txBody>
      </p:sp>
      <p:sp>
        <p:nvSpPr>
          <p:cNvPr id="43" name="Cover label Problem Statement Title">
            <a:extLst>
              <a:ext uri="{FF2B5EF4-FFF2-40B4-BE49-F238E27FC236}">
                <a16:creationId xmlns:a16="http://schemas.microsoft.com/office/drawing/2014/main" id="{6F12835F-CAB4-4676-B4CC-5E331EE7B5CC}"/>
              </a:ext>
            </a:extLst>
          </p:cNvPr>
          <p:cNvSpPr>
            <a:spLocks noGrp="1"/>
          </p:cNvSpPr>
          <p:nvPr/>
        </p:nvSpPr>
        <p:spPr>
          <a:xfrm>
            <a:off x="666749" y="3028950"/>
            <a:ext cx="266638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 dirty="0">
                <a:solidFill>
                  <a:srgbClr val="174F87"/>
                </a:solidFill>
                <a:latin typeface="Arial"/>
                <a:ea typeface="Arial"/>
                <a:cs typeface="Arial"/>
              </a:rPr>
              <a:t>Problem Statement Title</a:t>
            </a:r>
          </a:p>
        </p:txBody>
      </p:sp>
      <p:sp>
        <p:nvSpPr>
          <p:cNvPr id="44" name="Cover value Problem Statement Title">
            <a:extLst>
              <a:ext uri="{FF2B5EF4-FFF2-40B4-BE49-F238E27FC236}">
                <a16:creationId xmlns:a16="http://schemas.microsoft.com/office/drawing/2014/main" id="{246250D0-FC65-4442-B4A3-0854B77CB3D4}"/>
              </a:ext>
            </a:extLst>
          </p:cNvPr>
          <p:cNvSpPr>
            <a:spLocks noGrp="1"/>
          </p:cNvSpPr>
          <p:nvPr/>
        </p:nvSpPr>
        <p:spPr>
          <a:xfrm>
            <a:off x="3289058" y="3010164"/>
            <a:ext cx="37623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On-device Visual Perception for</a:t>
            </a:r>
          </a:p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Light-weight Browser Agents</a:t>
            </a:r>
          </a:p>
        </p:txBody>
      </p:sp>
      <p:sp>
        <p:nvSpPr>
          <p:cNvPr id="45" name="Cover label Theme">
            <a:extLst>
              <a:ext uri="{FF2B5EF4-FFF2-40B4-BE49-F238E27FC236}">
                <a16:creationId xmlns:a16="http://schemas.microsoft.com/office/drawing/2014/main" id="{40966A31-A79C-4ECE-BB1F-E00C561B88D2}"/>
              </a:ext>
            </a:extLst>
          </p:cNvPr>
          <p:cNvSpPr>
            <a:spLocks noGrp="1"/>
          </p:cNvSpPr>
          <p:nvPr/>
        </p:nvSpPr>
        <p:spPr>
          <a:xfrm>
            <a:off x="666749" y="3752850"/>
            <a:ext cx="233833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74F87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46" name="Cover value Theme">
            <a:extLst>
              <a:ext uri="{FF2B5EF4-FFF2-40B4-BE49-F238E27FC236}">
                <a16:creationId xmlns:a16="http://schemas.microsoft.com/office/drawing/2014/main" id="{B0992FE4-311E-4B35-98EF-16D7E051291F}"/>
              </a:ext>
            </a:extLst>
          </p:cNvPr>
          <p:cNvSpPr>
            <a:spLocks noGrp="1"/>
          </p:cNvSpPr>
          <p:nvPr/>
        </p:nvSpPr>
        <p:spPr>
          <a:xfrm>
            <a:off x="3289059" y="3758409"/>
            <a:ext cx="3762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Smart Automation</a:t>
            </a:r>
          </a:p>
        </p:txBody>
      </p:sp>
      <p:sp>
        <p:nvSpPr>
          <p:cNvPr id="47" name="Cover label PS Category">
            <a:extLst>
              <a:ext uri="{FF2B5EF4-FFF2-40B4-BE49-F238E27FC236}">
                <a16:creationId xmlns:a16="http://schemas.microsoft.com/office/drawing/2014/main" id="{DD54B70F-301B-4ED7-86F0-F17A9815E3E5}"/>
              </a:ext>
            </a:extLst>
          </p:cNvPr>
          <p:cNvSpPr>
            <a:spLocks noGrp="1"/>
          </p:cNvSpPr>
          <p:nvPr/>
        </p:nvSpPr>
        <p:spPr>
          <a:xfrm>
            <a:off x="666749" y="4210050"/>
            <a:ext cx="233833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74F87"/>
                </a:solidFill>
                <a:latin typeface="Arial"/>
                <a:ea typeface="Arial"/>
                <a:cs typeface="Arial"/>
              </a:rPr>
              <a:t>PS Category</a:t>
            </a:r>
          </a:p>
        </p:txBody>
      </p:sp>
      <p:sp>
        <p:nvSpPr>
          <p:cNvPr id="48" name="Cover value PS Category">
            <a:extLst>
              <a:ext uri="{FF2B5EF4-FFF2-40B4-BE49-F238E27FC236}">
                <a16:creationId xmlns:a16="http://schemas.microsoft.com/office/drawing/2014/main" id="{99067CD0-2DC5-4A83-8F08-AF77DAF1A047}"/>
              </a:ext>
            </a:extLst>
          </p:cNvPr>
          <p:cNvSpPr>
            <a:spLocks noGrp="1"/>
          </p:cNvSpPr>
          <p:nvPr/>
        </p:nvSpPr>
        <p:spPr>
          <a:xfrm>
            <a:off x="3289059" y="4215609"/>
            <a:ext cx="3762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7212B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49" name="Cover label Team ID">
            <a:extLst>
              <a:ext uri="{FF2B5EF4-FFF2-40B4-BE49-F238E27FC236}">
                <a16:creationId xmlns:a16="http://schemas.microsoft.com/office/drawing/2014/main" id="{30EC868E-C4E5-414F-B52F-387B4D816EF1}"/>
              </a:ext>
            </a:extLst>
          </p:cNvPr>
          <p:cNvSpPr>
            <a:spLocks noGrp="1"/>
          </p:cNvSpPr>
          <p:nvPr/>
        </p:nvSpPr>
        <p:spPr>
          <a:xfrm>
            <a:off x="666749" y="4667250"/>
            <a:ext cx="233833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74F87"/>
                </a:solidFill>
                <a:latin typeface="Arial"/>
                <a:ea typeface="Arial"/>
                <a:cs typeface="Arial"/>
              </a:rPr>
              <a:t>Team ID</a:t>
            </a:r>
          </a:p>
        </p:txBody>
      </p:sp>
      <p:sp>
        <p:nvSpPr>
          <p:cNvPr id="50" name="Cover value Team ID">
            <a:extLst>
              <a:ext uri="{FF2B5EF4-FFF2-40B4-BE49-F238E27FC236}">
                <a16:creationId xmlns:a16="http://schemas.microsoft.com/office/drawing/2014/main" id="{FD6B8389-32D5-4763-A71D-3926AF2089E3}"/>
              </a:ext>
            </a:extLst>
          </p:cNvPr>
          <p:cNvSpPr>
            <a:spLocks noGrp="1"/>
          </p:cNvSpPr>
          <p:nvPr/>
        </p:nvSpPr>
        <p:spPr>
          <a:xfrm>
            <a:off x="3289059" y="4672809"/>
            <a:ext cx="3762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7212B"/>
                </a:solidFill>
                <a:latin typeface="Arial"/>
                <a:ea typeface="Arial"/>
                <a:cs typeface="Arial"/>
              </a:rPr>
              <a:t>T040_BLUE_HORIZON_Software</a:t>
            </a:r>
          </a:p>
        </p:txBody>
      </p:sp>
      <p:sp>
        <p:nvSpPr>
          <p:cNvPr id="51" name="Cover label Team Name">
            <a:extLst>
              <a:ext uri="{FF2B5EF4-FFF2-40B4-BE49-F238E27FC236}">
                <a16:creationId xmlns:a16="http://schemas.microsoft.com/office/drawing/2014/main" id="{82E4B990-1931-4F9D-8F3F-4C33A33062D1}"/>
              </a:ext>
            </a:extLst>
          </p:cNvPr>
          <p:cNvSpPr>
            <a:spLocks noGrp="1"/>
          </p:cNvSpPr>
          <p:nvPr/>
        </p:nvSpPr>
        <p:spPr>
          <a:xfrm>
            <a:off x="666749" y="5124450"/>
            <a:ext cx="233833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74F87"/>
                </a:solidFill>
                <a:latin typeface="Arial"/>
                <a:ea typeface="Arial"/>
                <a:cs typeface="Arial"/>
              </a:rPr>
              <a:t>Team Name</a:t>
            </a:r>
          </a:p>
        </p:txBody>
      </p:sp>
      <p:sp>
        <p:nvSpPr>
          <p:cNvPr id="52" name="Cover value Team Name">
            <a:extLst>
              <a:ext uri="{FF2B5EF4-FFF2-40B4-BE49-F238E27FC236}">
                <a16:creationId xmlns:a16="http://schemas.microsoft.com/office/drawing/2014/main" id="{D6DB2B46-A2B8-4834-B8E7-2A9173364EC5}"/>
              </a:ext>
            </a:extLst>
          </p:cNvPr>
          <p:cNvSpPr>
            <a:spLocks noGrp="1"/>
          </p:cNvSpPr>
          <p:nvPr/>
        </p:nvSpPr>
        <p:spPr>
          <a:xfrm>
            <a:off x="3289059" y="5130009"/>
            <a:ext cx="3762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17212B"/>
                </a:solidFill>
                <a:latin typeface="Arial"/>
                <a:ea typeface="Arial"/>
                <a:cs typeface="Arial"/>
              </a:rPr>
              <a:t>BLUE HORIZON</a:t>
            </a:r>
          </a:p>
        </p:txBody>
      </p:sp>
    </p:spTree>
    <p:extLst>
      <p:ext uri="{BB962C8B-B14F-4D97-AF65-F5344CB8AC3E}">
        <p14:creationId xmlns:p14="http://schemas.microsoft.com/office/powerpoint/2010/main" val="95178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157D86-D479-413A-B339-FCB6CC588731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5A8F4821-7503-436F-BCE5-37F75DE3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buNone/>
            </a:pPr>
            <a:r>
              <a:rPr dirty="0"/>
              <a:t>PRIVAGENT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0AA00-207F-4A7A-ADCB-43F8C0D423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5E1F46-A4F9-41DC-85B2-7F1AB75F525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2731" y="6423818"/>
            <a:ext cx="4308987" cy="365125"/>
          </a:xfrm>
        </p:spPr>
        <p:txBody>
          <a:bodyPr/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SMART INDIA HACKATHON 2026 - PRIVAGENT</a:t>
            </a:r>
            <a:endParaRPr sz="1400" b="1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8100" tIns="0" rIns="38100" bIns="0" anchor="ctr">
            <a:normAutofit/>
          </a:bodyPr>
          <a:lstStyle/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BLUE</a:t>
            </a:r>
            <a:endParaRPr/>
          </a:p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HORIZON</a:t>
            </a:r>
            <a:endParaRPr/>
          </a:p>
        </p:txBody>
      </p:sp>
      <p:pic>
        <p:nvPicPr>
          <p:cNvPr id="15399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Solution prompt">
            <a:extLst>
              <a:ext uri="{FF2B5EF4-FFF2-40B4-BE49-F238E27FC236}">
                <a16:creationId xmlns:a16="http://schemas.microsoft.com/office/drawing/2014/main" id="{9D605002-84BD-40ED-B164-E52C239DCC99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</a:p>
        </p:txBody>
      </p:sp>
      <p:sp>
        <p:nvSpPr>
          <p:cNvPr id="15365" name="Solution number 1">
            <a:extLst>
              <a:ext uri="{FF2B5EF4-FFF2-40B4-BE49-F238E27FC236}">
                <a16:creationId xmlns:a16="http://schemas.microsoft.com/office/drawing/2014/main" id="{A1F42387-ACD9-4623-A175-86A835C7951F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879B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9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366" name="Solution heading 1">
            <a:extLst>
              <a:ext uri="{FF2B5EF4-FFF2-40B4-BE49-F238E27FC236}">
                <a16:creationId xmlns:a16="http://schemas.microsoft.com/office/drawing/2014/main" id="{AA272E21-958C-4824-AF01-7251AC03B717}"/>
              </a:ext>
            </a:extLst>
          </p:cNvPr>
          <p:cNvSpPr>
            <a:spLocks noGrp="1"/>
          </p:cNvSpPr>
          <p:nvPr/>
        </p:nvSpPr>
        <p:spPr>
          <a:xfrm>
            <a:off x="1066800" y="2057400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PERCEPTION</a:t>
            </a:r>
          </a:p>
        </p:txBody>
      </p:sp>
      <p:sp>
        <p:nvSpPr>
          <p:cNvPr id="15367" name="Solution detail 1">
            <a:extLst>
              <a:ext uri="{FF2B5EF4-FFF2-40B4-BE49-F238E27FC236}">
                <a16:creationId xmlns:a16="http://schemas.microsoft.com/office/drawing/2014/main" id="{F4EAFE81-40C8-487B-98EC-223519D0FAD3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Read DOM and screen context on the device.</a:t>
            </a:r>
          </a:p>
        </p:txBody>
      </p:sp>
      <p:sp>
        <p:nvSpPr>
          <p:cNvPr id="15368" name="Solution number 2">
            <a:extLst>
              <a:ext uri="{FF2B5EF4-FFF2-40B4-BE49-F238E27FC236}">
                <a16:creationId xmlns:a16="http://schemas.microsoft.com/office/drawing/2014/main" id="{04952A40-CFE3-4629-986B-A81B49F06A96}"/>
              </a:ext>
            </a:extLst>
          </p:cNvPr>
          <p:cNvSpPr>
            <a:spLocks noGrp="1"/>
          </p:cNvSpPr>
          <p:nvPr/>
        </p:nvSpPr>
        <p:spPr>
          <a:xfrm>
            <a:off x="666750" y="2886075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EF7D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F7D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369" name="Solution heading 2">
            <a:extLst>
              <a:ext uri="{FF2B5EF4-FFF2-40B4-BE49-F238E27FC236}">
                <a16:creationId xmlns:a16="http://schemas.microsoft.com/office/drawing/2014/main" id="{9AAE1D75-48DD-4E11-B408-DFB64A358986}"/>
              </a:ext>
            </a:extLst>
          </p:cNvPr>
          <p:cNvSpPr>
            <a:spLocks noGrp="1"/>
          </p:cNvSpPr>
          <p:nvPr/>
        </p:nvSpPr>
        <p:spPr>
          <a:xfrm>
            <a:off x="1066800" y="2886075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PRIVACY GATE</a:t>
            </a:r>
          </a:p>
        </p:txBody>
      </p:sp>
      <p:sp>
        <p:nvSpPr>
          <p:cNvPr id="15370" name="Solution detail 2">
            <a:extLst>
              <a:ext uri="{FF2B5EF4-FFF2-40B4-BE49-F238E27FC236}">
                <a16:creationId xmlns:a16="http://schemas.microsoft.com/office/drawing/2014/main" id="{696A4B48-2A79-428D-B5D2-63C86F582CDA}"/>
              </a:ext>
            </a:extLst>
          </p:cNvPr>
          <p:cNvSpPr>
            <a:spLocks noGrp="1"/>
          </p:cNvSpPr>
          <p:nvPr/>
        </p:nvSpPr>
        <p:spPr>
          <a:xfrm>
            <a:off x="1066800" y="31527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Detect and redact sensitive regions before any request.</a:t>
            </a:r>
          </a:p>
        </p:txBody>
      </p:sp>
      <p:sp>
        <p:nvSpPr>
          <p:cNvPr id="15371" name="Solution number 3">
            <a:extLst>
              <a:ext uri="{FF2B5EF4-FFF2-40B4-BE49-F238E27FC236}">
                <a16:creationId xmlns:a16="http://schemas.microsoft.com/office/drawing/2014/main" id="{8E891F0C-E89F-4B25-AAEC-0456394A882D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0879B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9B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372" name="Solution heading 3">
            <a:extLst>
              <a:ext uri="{FF2B5EF4-FFF2-40B4-BE49-F238E27FC236}">
                <a16:creationId xmlns:a16="http://schemas.microsoft.com/office/drawing/2014/main" id="{C4D43099-EB29-4647-9A8C-F9236DA2C7C2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7148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HYBRID ACTION</a:t>
            </a:r>
          </a:p>
        </p:txBody>
      </p:sp>
      <p:sp>
        <p:nvSpPr>
          <p:cNvPr id="15373" name="Solution detail 3">
            <a:extLst>
              <a:ext uri="{FF2B5EF4-FFF2-40B4-BE49-F238E27FC236}">
                <a16:creationId xmlns:a16="http://schemas.microsoft.com/office/drawing/2014/main" id="{13DB6A89-241F-4C75-B24C-590E55A364BC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Server plans on safe context. The client validates and acts.</a:t>
            </a:r>
          </a:p>
        </p:txBody>
      </p:sp>
      <p:pic>
        <p:nvPicPr>
          <p:cNvPr id="15410" name="Picture 1540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7225" y="1619250"/>
            <a:ext cx="5077301" cy="2857500"/>
          </a:xfrm>
          <a:prstGeom prst="rect">
            <a:avLst/>
          </a:prstGeom>
        </p:spPr>
      </p:pic>
      <p:sp>
        <p:nvSpPr>
          <p:cNvPr id="15375" name="Solution flow 1">
            <a:extLst>
              <a:ext uri="{FF2B5EF4-FFF2-40B4-BE49-F238E27FC236}">
                <a16:creationId xmlns:a16="http://schemas.microsoft.com/office/drawing/2014/main" id="{AF62D9B2-29E9-441E-8874-BE431220AC4E}"/>
              </a:ext>
            </a:extLst>
          </p:cNvPr>
          <p:cNvSpPr>
            <a:spLocks noGrp="1"/>
          </p:cNvSpPr>
          <p:nvPr/>
        </p:nvSpPr>
        <p:spPr>
          <a:xfrm>
            <a:off x="523875" y="4914900"/>
            <a:ext cx="19431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5376" name="Solution flow title 1">
            <a:extLst>
              <a:ext uri="{FF2B5EF4-FFF2-40B4-BE49-F238E27FC236}">
                <a16:creationId xmlns:a16="http://schemas.microsoft.com/office/drawing/2014/main" id="{DF18AA12-2F22-415B-933F-6243DB770091}"/>
              </a:ext>
            </a:extLst>
          </p:cNvPr>
          <p:cNvSpPr>
            <a:spLocks noGrp="1"/>
          </p:cNvSpPr>
          <p:nvPr/>
        </p:nvSpPr>
        <p:spPr>
          <a:xfrm>
            <a:off x="619125" y="5029200"/>
            <a:ext cx="175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5377" name="Solution flow detail 1">
            <a:extLst>
              <a:ext uri="{FF2B5EF4-FFF2-40B4-BE49-F238E27FC236}">
                <a16:creationId xmlns:a16="http://schemas.microsoft.com/office/drawing/2014/main" id="{24E3FCB3-5B0F-4963-84B7-F5A7C90170A9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DOM + screen</a:t>
            </a:r>
          </a:p>
        </p:txBody>
      </p:sp>
      <p:sp>
        <p:nvSpPr>
          <p:cNvPr id="15378" name="Solution flow 2">
            <a:extLst>
              <a:ext uri="{FF2B5EF4-FFF2-40B4-BE49-F238E27FC236}">
                <a16:creationId xmlns:a16="http://schemas.microsoft.com/office/drawing/2014/main" id="{F0586FAF-D4D0-43A1-8F00-9013CB0EAAB2}"/>
              </a:ext>
            </a:extLst>
          </p:cNvPr>
          <p:cNvSpPr>
            <a:spLocks noGrp="1"/>
          </p:cNvSpPr>
          <p:nvPr/>
        </p:nvSpPr>
        <p:spPr>
          <a:xfrm>
            <a:off x="2819400" y="4914900"/>
            <a:ext cx="19431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5379" name="Solution flow title 2">
            <a:extLst>
              <a:ext uri="{FF2B5EF4-FFF2-40B4-BE49-F238E27FC236}">
                <a16:creationId xmlns:a16="http://schemas.microsoft.com/office/drawing/2014/main" id="{1CFD168E-211E-4241-9017-750EA994F43B}"/>
              </a:ext>
            </a:extLst>
          </p:cNvPr>
          <p:cNvSpPr>
            <a:spLocks noGrp="1"/>
          </p:cNvSpPr>
          <p:nvPr/>
        </p:nvSpPr>
        <p:spPr>
          <a:xfrm>
            <a:off x="2914650" y="5029200"/>
            <a:ext cx="175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5380" name="Solution flow detail 2">
            <a:extLst>
              <a:ext uri="{FF2B5EF4-FFF2-40B4-BE49-F238E27FC236}">
                <a16:creationId xmlns:a16="http://schemas.microsoft.com/office/drawing/2014/main" id="{CA3BE8D2-7702-4E55-BBE0-254FDDDAF96E}"/>
              </a:ext>
            </a:extLst>
          </p:cNvPr>
          <p:cNvSpPr>
            <a:spLocks noGrp="1"/>
          </p:cNvSpPr>
          <p:nvPr/>
        </p:nvSpPr>
        <p:spPr>
          <a:xfrm>
            <a:off x="2895600" y="53149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Local vision</a:t>
            </a:r>
          </a:p>
        </p:txBody>
      </p:sp>
      <p:sp>
        <p:nvSpPr>
          <p:cNvPr id="15381" name="Solution flow 3">
            <a:extLst>
              <a:ext uri="{FF2B5EF4-FFF2-40B4-BE49-F238E27FC236}">
                <a16:creationId xmlns:a16="http://schemas.microsoft.com/office/drawing/2014/main" id="{C15E0D48-E5E8-475F-B460-817DCB30B5A6}"/>
              </a:ext>
            </a:extLst>
          </p:cNvPr>
          <p:cNvSpPr>
            <a:spLocks noGrp="1"/>
          </p:cNvSpPr>
          <p:nvPr/>
        </p:nvSpPr>
        <p:spPr>
          <a:xfrm>
            <a:off x="5114925" y="4914900"/>
            <a:ext cx="1943100" cy="790575"/>
          </a:xfrm>
          <a:prstGeom prst="roundRect">
            <a:avLst>
              <a:gd name="adj" fmla="val 14458"/>
            </a:avLst>
          </a:prstGeom>
          <a:solidFill>
            <a:srgbClr val="FFF4E8"/>
          </a:solidFill>
          <a:ln w="11430">
            <a:solidFill>
              <a:srgbClr val="EF7D00"/>
            </a:solidFill>
            <a:prstDash val="solid"/>
          </a:ln>
        </p:spPr>
      </p:sp>
      <p:sp>
        <p:nvSpPr>
          <p:cNvPr id="15382" name="Solution flow title 3">
            <a:extLst>
              <a:ext uri="{FF2B5EF4-FFF2-40B4-BE49-F238E27FC236}">
                <a16:creationId xmlns:a16="http://schemas.microsoft.com/office/drawing/2014/main" id="{8F4BD08D-059F-4223-93DC-7311C1CB76B8}"/>
              </a:ext>
            </a:extLst>
          </p:cNvPr>
          <p:cNvSpPr>
            <a:spLocks noGrp="1"/>
          </p:cNvSpPr>
          <p:nvPr/>
        </p:nvSpPr>
        <p:spPr>
          <a:xfrm>
            <a:off x="5210175" y="5029200"/>
            <a:ext cx="175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EF7D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F7D00"/>
                </a:solidFill>
                <a:latin typeface="Arial"/>
                <a:ea typeface="Arial"/>
                <a:cs typeface="Arial"/>
              </a:rPr>
              <a:t>Sanitize</a:t>
            </a:r>
          </a:p>
        </p:txBody>
      </p:sp>
      <p:sp>
        <p:nvSpPr>
          <p:cNvPr id="15383" name="Solution flow detail 3">
            <a:extLst>
              <a:ext uri="{FF2B5EF4-FFF2-40B4-BE49-F238E27FC236}">
                <a16:creationId xmlns:a16="http://schemas.microsoft.com/office/drawing/2014/main" id="{E222357D-7C93-4162-8AC0-17BB2E3E5F4B}"/>
              </a:ext>
            </a:extLst>
          </p:cNvPr>
          <p:cNvSpPr>
            <a:spLocks noGrp="1"/>
          </p:cNvSpPr>
          <p:nvPr/>
        </p:nvSpPr>
        <p:spPr>
          <a:xfrm>
            <a:off x="5191125" y="53149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PII redaction</a:t>
            </a:r>
          </a:p>
        </p:txBody>
      </p:sp>
      <p:sp>
        <p:nvSpPr>
          <p:cNvPr id="15384" name="Solution flow 4">
            <a:extLst>
              <a:ext uri="{FF2B5EF4-FFF2-40B4-BE49-F238E27FC236}">
                <a16:creationId xmlns:a16="http://schemas.microsoft.com/office/drawing/2014/main" id="{C6F09753-F8A4-4D34-9CA7-61A0CF949159}"/>
              </a:ext>
            </a:extLst>
          </p:cNvPr>
          <p:cNvSpPr>
            <a:spLocks noGrp="1"/>
          </p:cNvSpPr>
          <p:nvPr/>
        </p:nvSpPr>
        <p:spPr>
          <a:xfrm>
            <a:off x="7410450" y="4914900"/>
            <a:ext cx="1943100" cy="790575"/>
          </a:xfrm>
          <a:prstGeom prst="roundRect">
            <a:avLst>
              <a:gd name="adj" fmla="val 14458"/>
            </a:avLst>
          </a:prstGeom>
          <a:solidFill>
            <a:srgbClr val="EAF3FA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5385" name="Solution flow title 4">
            <a:extLst>
              <a:ext uri="{FF2B5EF4-FFF2-40B4-BE49-F238E27FC236}">
                <a16:creationId xmlns:a16="http://schemas.microsoft.com/office/drawing/2014/main" id="{12943F54-9D7E-4C43-8307-822A4F92EBBE}"/>
              </a:ext>
            </a:extLst>
          </p:cNvPr>
          <p:cNvSpPr>
            <a:spLocks noGrp="1"/>
          </p:cNvSpPr>
          <p:nvPr/>
        </p:nvSpPr>
        <p:spPr>
          <a:xfrm>
            <a:off x="7505700" y="5029200"/>
            <a:ext cx="175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5386" name="Solution flow detail 4">
            <a:extLst>
              <a:ext uri="{FF2B5EF4-FFF2-40B4-BE49-F238E27FC236}">
                <a16:creationId xmlns:a16="http://schemas.microsoft.com/office/drawing/2014/main" id="{299EBCC0-6716-46CE-B677-C6BAB2539C1E}"/>
              </a:ext>
            </a:extLst>
          </p:cNvPr>
          <p:cNvSpPr>
            <a:spLocks noGrp="1"/>
          </p:cNvSpPr>
          <p:nvPr/>
        </p:nvSpPr>
        <p:spPr>
          <a:xfrm>
            <a:off x="7486650" y="53149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15387" name="Solution flow 5">
            <a:extLst>
              <a:ext uri="{FF2B5EF4-FFF2-40B4-BE49-F238E27FC236}">
                <a16:creationId xmlns:a16="http://schemas.microsoft.com/office/drawing/2014/main" id="{7E116EDF-4920-4C29-BBEB-BF82F2E38942}"/>
              </a:ext>
            </a:extLst>
          </p:cNvPr>
          <p:cNvSpPr>
            <a:spLocks noGrp="1"/>
          </p:cNvSpPr>
          <p:nvPr/>
        </p:nvSpPr>
        <p:spPr>
          <a:xfrm>
            <a:off x="9705975" y="4914900"/>
            <a:ext cx="1943100" cy="790575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5388" name="Solution flow title 5">
            <a:extLst>
              <a:ext uri="{FF2B5EF4-FFF2-40B4-BE49-F238E27FC236}">
                <a16:creationId xmlns:a16="http://schemas.microsoft.com/office/drawing/2014/main" id="{F656C38F-4AFA-43CB-920D-87FC8126509D}"/>
              </a:ext>
            </a:extLst>
          </p:cNvPr>
          <p:cNvSpPr>
            <a:spLocks noGrp="1"/>
          </p:cNvSpPr>
          <p:nvPr/>
        </p:nvSpPr>
        <p:spPr>
          <a:xfrm>
            <a:off x="9801225" y="5029200"/>
            <a:ext cx="17526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5389" name="Solution flow detail 5">
            <a:extLst>
              <a:ext uri="{FF2B5EF4-FFF2-40B4-BE49-F238E27FC236}">
                <a16:creationId xmlns:a16="http://schemas.microsoft.com/office/drawing/2014/main" id="{11BDC9F5-7FBB-45C2-B718-520CF29CEE4E}"/>
              </a:ext>
            </a:extLst>
          </p:cNvPr>
          <p:cNvSpPr>
            <a:spLocks noGrp="1"/>
          </p:cNvSpPr>
          <p:nvPr/>
        </p:nvSpPr>
        <p:spPr>
          <a:xfrm>
            <a:off x="9782175" y="531495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Validate locally</a:t>
            </a:r>
          </a:p>
        </p:txBody>
      </p:sp>
      <p:cxnSp>
        <p:nvCxnSpPr>
          <p:cNvPr id="15426" name="Straight Arrow Connector 15425"/>
          <p:cNvCxnSpPr>
            <a:stCxn id="15375" idx="3"/>
            <a:endCxn id="15378" idx="1"/>
          </p:cNvCxnSpPr>
          <p:nvPr/>
        </p:nvCxnSpPr>
        <p:spPr>
          <a:xfrm>
            <a:off x="2466975" y="5310188"/>
            <a:ext cx="352425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5427" name="Straight Arrow Connector 15426"/>
          <p:cNvCxnSpPr>
            <a:stCxn id="15378" idx="3"/>
            <a:endCxn id="15381" idx="1"/>
          </p:cNvCxnSpPr>
          <p:nvPr/>
        </p:nvCxnSpPr>
        <p:spPr>
          <a:xfrm>
            <a:off x="4762500" y="5310188"/>
            <a:ext cx="352425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5428" name="Straight Arrow Connector 15427"/>
          <p:cNvCxnSpPr>
            <a:stCxn id="15381" idx="3"/>
            <a:endCxn id="15384" idx="1"/>
          </p:cNvCxnSpPr>
          <p:nvPr/>
        </p:nvCxnSpPr>
        <p:spPr>
          <a:xfrm>
            <a:off x="7058025" y="5310188"/>
            <a:ext cx="352425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5429" name="Straight Arrow Connector 15428"/>
          <p:cNvCxnSpPr>
            <a:stCxn id="15384" idx="3"/>
            <a:endCxn id="15387" idx="1"/>
          </p:cNvCxnSpPr>
          <p:nvPr/>
        </p:nvCxnSpPr>
        <p:spPr>
          <a:xfrm>
            <a:off x="9353550" y="5310188"/>
            <a:ext cx="352425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977881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AF1FEF8-EE1B-48C2-A584-6E70E459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DCCF1-D3AD-404A-BC06-79467DA1C6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8100" tIns="0" rIns="38100" bIns="0" anchor="ctr">
            <a:normAutofit/>
          </a:bodyPr>
          <a:lstStyle/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BLUE</a:t>
            </a:r>
            <a:endParaRPr/>
          </a:p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HORIZON</a:t>
            </a:r>
            <a:endParaRPr/>
          </a:p>
        </p:txBody>
      </p:sp>
      <p:pic>
        <p:nvPicPr>
          <p:cNvPr id="17453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Technology pointer">
            <a:extLst>
              <a:ext uri="{FF2B5EF4-FFF2-40B4-BE49-F238E27FC236}">
                <a16:creationId xmlns:a16="http://schemas.microsoft.com/office/drawing/2014/main" id="{55AF2866-16E0-4714-958A-4A8AF52AD82D}"/>
              </a:ext>
            </a:extLst>
          </p:cNvPr>
          <p:cNvSpPr>
            <a:spLocks noGrp="1"/>
          </p:cNvSpPr>
          <p:nvPr/>
        </p:nvSpPr>
        <p:spPr>
          <a:xfrm>
            <a:off x="609600" y="1228725"/>
            <a:ext cx="108013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</p:txBody>
      </p:sp>
      <p:sp>
        <p:nvSpPr>
          <p:cNvPr id="17413" name="Tech label 1">
            <a:extLst>
              <a:ext uri="{FF2B5EF4-FFF2-40B4-BE49-F238E27FC236}">
                <a16:creationId xmlns:a16="http://schemas.microsoft.com/office/drawing/2014/main" id="{0DA147F5-AA04-4F16-ADFC-81A31C6E634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BROWSER CLIENT</a:t>
            </a:r>
          </a:p>
        </p:txBody>
      </p:sp>
      <p:sp>
        <p:nvSpPr>
          <p:cNvPr id="17414" name="Tech detail 1">
            <a:extLst>
              <a:ext uri="{FF2B5EF4-FFF2-40B4-BE49-F238E27FC236}">
                <a16:creationId xmlns:a16="http://schemas.microsoft.com/office/drawing/2014/main" id="{05035D5D-E04F-474A-95C9-C634C8132AD8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Chrome WebExtensions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17415" name="Tech divider 1">
            <a:extLst>
              <a:ext uri="{FF2B5EF4-FFF2-40B4-BE49-F238E27FC236}">
                <a16:creationId xmlns:a16="http://schemas.microsoft.com/office/drawing/2014/main" id="{6EA34657-D499-49E9-9E27-71C2AC44223B}"/>
              </a:ext>
            </a:extLst>
          </p:cNvPr>
          <p:cNvSpPr>
            <a:spLocks noGrp="1"/>
          </p:cNvSpPr>
          <p:nvPr/>
        </p:nvSpPr>
        <p:spPr>
          <a:xfrm>
            <a:off x="2762250" y="1628775"/>
            <a:ext cx="0" cy="733425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16" name="Tech label 2">
            <a:extLst>
              <a:ext uri="{FF2B5EF4-FFF2-40B4-BE49-F238E27FC236}">
                <a16:creationId xmlns:a16="http://schemas.microsoft.com/office/drawing/2014/main" id="{45BF9346-F447-4CF7-B88A-3689A62A5309}"/>
              </a:ext>
            </a:extLst>
          </p:cNvPr>
          <p:cNvSpPr>
            <a:spLocks noGrp="1"/>
          </p:cNvSpPr>
          <p:nvPr/>
        </p:nvSpPr>
        <p:spPr>
          <a:xfrm>
            <a:off x="2838450" y="16192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LOCAL INPUT</a:t>
            </a:r>
          </a:p>
        </p:txBody>
      </p:sp>
      <p:sp>
        <p:nvSpPr>
          <p:cNvPr id="17417" name="Tech detail 2">
            <a:extLst>
              <a:ext uri="{FF2B5EF4-FFF2-40B4-BE49-F238E27FC236}">
                <a16:creationId xmlns:a16="http://schemas.microsoft.com/office/drawing/2014/main" id="{732B0C9F-4124-4B3B-9918-AD5969043228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DOM + screenshot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OCR + privacy rules</a:t>
            </a:r>
          </a:p>
        </p:txBody>
      </p:sp>
      <p:sp>
        <p:nvSpPr>
          <p:cNvPr id="17418" name="Tech divider 2">
            <a:extLst>
              <a:ext uri="{FF2B5EF4-FFF2-40B4-BE49-F238E27FC236}">
                <a16:creationId xmlns:a16="http://schemas.microsoft.com/office/drawing/2014/main" id="{C56779BF-C8F4-4D41-9B65-A5B3A0E75E68}"/>
              </a:ext>
            </a:extLst>
          </p:cNvPr>
          <p:cNvSpPr>
            <a:spLocks noGrp="1"/>
          </p:cNvSpPr>
          <p:nvPr/>
        </p:nvSpPr>
        <p:spPr>
          <a:xfrm>
            <a:off x="4991100" y="1628775"/>
            <a:ext cx="0" cy="733425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19" name="Tech label 3">
            <a:extLst>
              <a:ext uri="{FF2B5EF4-FFF2-40B4-BE49-F238E27FC236}">
                <a16:creationId xmlns:a16="http://schemas.microsoft.com/office/drawing/2014/main" id="{1CD58986-541E-45F2-9F49-94E34F7DD4E2}"/>
              </a:ext>
            </a:extLst>
          </p:cNvPr>
          <p:cNvSpPr>
            <a:spLocks noGrp="1"/>
          </p:cNvSpPr>
          <p:nvPr/>
        </p:nvSpPr>
        <p:spPr>
          <a:xfrm>
            <a:off x="5067300" y="16192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VISION RUNTIME</a:t>
            </a:r>
          </a:p>
        </p:txBody>
      </p:sp>
      <p:sp>
        <p:nvSpPr>
          <p:cNvPr id="17420" name="Tech detail 3">
            <a:extLst>
              <a:ext uri="{FF2B5EF4-FFF2-40B4-BE49-F238E27FC236}">
                <a16:creationId xmlns:a16="http://schemas.microsoft.com/office/drawing/2014/main" id="{4FD7DFDD-6AAE-4BF7-B995-D5964A5813CD}"/>
              </a:ext>
            </a:extLst>
          </p:cNvPr>
          <p:cNvSpPr>
            <a:spLocks noGrp="1"/>
          </p:cNvSpPr>
          <p:nvPr/>
        </p:nvSpPr>
        <p:spPr>
          <a:xfrm>
            <a:off x="5067300" y="19050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ONNX Runtime Web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Transformers.js</a:t>
            </a:r>
          </a:p>
        </p:txBody>
      </p:sp>
      <p:sp>
        <p:nvSpPr>
          <p:cNvPr id="17421" name="Tech divider 3">
            <a:extLst>
              <a:ext uri="{FF2B5EF4-FFF2-40B4-BE49-F238E27FC236}">
                <a16:creationId xmlns:a16="http://schemas.microsoft.com/office/drawing/2014/main" id="{65D7B4C2-4997-4B05-BC90-07E8F77CDE4F}"/>
              </a:ext>
            </a:extLst>
          </p:cNvPr>
          <p:cNvSpPr>
            <a:spLocks noGrp="1"/>
          </p:cNvSpPr>
          <p:nvPr/>
        </p:nvSpPr>
        <p:spPr>
          <a:xfrm>
            <a:off x="7219950" y="1628775"/>
            <a:ext cx="0" cy="733425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22" name="Tech label 4">
            <a:extLst>
              <a:ext uri="{FF2B5EF4-FFF2-40B4-BE49-F238E27FC236}">
                <a16:creationId xmlns:a16="http://schemas.microsoft.com/office/drawing/2014/main" id="{7635C6AA-D0AC-4D05-983D-DBF5D5DB8FB8}"/>
              </a:ext>
            </a:extLst>
          </p:cNvPr>
          <p:cNvSpPr>
            <a:spLocks noGrp="1"/>
          </p:cNvSpPr>
          <p:nvPr/>
        </p:nvSpPr>
        <p:spPr>
          <a:xfrm>
            <a:off x="7296150" y="16192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EF7D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F7D00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7423" name="Tech detail 4">
            <a:extLst>
              <a:ext uri="{FF2B5EF4-FFF2-40B4-BE49-F238E27FC236}">
                <a16:creationId xmlns:a16="http://schemas.microsoft.com/office/drawing/2014/main" id="{8052EC82-54B2-442A-B263-8F28FF2A8B05}"/>
              </a:ext>
            </a:extLst>
          </p:cNvPr>
          <p:cNvSpPr>
            <a:spLocks noGrp="1"/>
          </p:cNvSpPr>
          <p:nvPr/>
        </p:nvSpPr>
        <p:spPr>
          <a:xfrm>
            <a:off x="7296150" y="19050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WebGPU preferred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WASM fallback</a:t>
            </a:r>
          </a:p>
        </p:txBody>
      </p:sp>
      <p:sp>
        <p:nvSpPr>
          <p:cNvPr id="17424" name="Tech divider 4">
            <a:extLst>
              <a:ext uri="{FF2B5EF4-FFF2-40B4-BE49-F238E27FC236}">
                <a16:creationId xmlns:a16="http://schemas.microsoft.com/office/drawing/2014/main" id="{6D8EAEDC-720D-4BB6-AC45-27FEA482FA0E}"/>
              </a:ext>
            </a:extLst>
          </p:cNvPr>
          <p:cNvSpPr>
            <a:spLocks noGrp="1"/>
          </p:cNvSpPr>
          <p:nvPr/>
        </p:nvSpPr>
        <p:spPr>
          <a:xfrm>
            <a:off x="9448800" y="1628775"/>
            <a:ext cx="0" cy="733425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25" name="Tech label 5">
            <a:extLst>
              <a:ext uri="{FF2B5EF4-FFF2-40B4-BE49-F238E27FC236}">
                <a16:creationId xmlns:a16="http://schemas.microsoft.com/office/drawing/2014/main" id="{174CB68D-246A-49A2-B43B-B617871B68D8}"/>
              </a:ext>
            </a:extLst>
          </p:cNvPr>
          <p:cNvSpPr>
            <a:spLocks noGrp="1"/>
          </p:cNvSpPr>
          <p:nvPr/>
        </p:nvSpPr>
        <p:spPr>
          <a:xfrm>
            <a:off x="9525000" y="161925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17426" name="Tech detail 5">
            <a:extLst>
              <a:ext uri="{FF2B5EF4-FFF2-40B4-BE49-F238E27FC236}">
                <a16:creationId xmlns:a16="http://schemas.microsoft.com/office/drawing/2014/main" id="{410C0225-5441-46EE-BCAA-44F9C895C51F}"/>
              </a:ext>
            </a:extLst>
          </p:cNvPr>
          <p:cNvSpPr>
            <a:spLocks noGrp="1"/>
          </p:cNvSpPr>
          <p:nvPr/>
        </p:nvSpPr>
        <p:spPr>
          <a:xfrm>
            <a:off x="9525000" y="1905000"/>
            <a:ext cx="2095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LLM/VLM returns</a:t>
            </a:r>
          </a:p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constrained JSON actions</a:t>
            </a:r>
          </a:p>
        </p:txBody>
      </p:sp>
      <p:sp>
        <p:nvSpPr>
          <p:cNvPr id="17427" name="Method prompt">
            <a:extLst>
              <a:ext uri="{FF2B5EF4-FFF2-40B4-BE49-F238E27FC236}">
                <a16:creationId xmlns:a16="http://schemas.microsoft.com/office/drawing/2014/main" id="{7CB74EF7-3D1C-4B49-A81E-354FF663C78B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8" name="Method step 1">
            <a:extLst>
              <a:ext uri="{FF2B5EF4-FFF2-40B4-BE49-F238E27FC236}">
                <a16:creationId xmlns:a16="http://schemas.microsoft.com/office/drawing/2014/main" id="{5F17A64C-B906-4D1F-948B-C427BF43AFB4}"/>
              </a:ext>
            </a:extLst>
          </p:cNvPr>
          <p:cNvSpPr>
            <a:spLocks noGrp="1"/>
          </p:cNvSpPr>
          <p:nvPr/>
        </p:nvSpPr>
        <p:spPr>
          <a:xfrm>
            <a:off x="533400" y="3143250"/>
            <a:ext cx="1971675" cy="1352550"/>
          </a:xfrm>
          <a:prstGeom prst="roundRect">
            <a:avLst>
              <a:gd name="adj" fmla="val 8451"/>
            </a:avLst>
          </a:prstGeom>
          <a:solidFill>
            <a:srgbClr val="F4F8FB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7429" name="Method step title 1">
            <a:extLst>
              <a:ext uri="{FF2B5EF4-FFF2-40B4-BE49-F238E27FC236}">
                <a16:creationId xmlns:a16="http://schemas.microsoft.com/office/drawing/2014/main" id="{EC3D0F50-C5DD-4C9C-B1C4-354C899C48BB}"/>
              </a:ext>
            </a:extLst>
          </p:cNvPr>
          <p:cNvSpPr>
            <a:spLocks noGrp="1"/>
          </p:cNvSpPr>
          <p:nvPr/>
        </p:nvSpPr>
        <p:spPr>
          <a:xfrm>
            <a:off x="628650" y="3352800"/>
            <a:ext cx="1781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01  Capture</a:t>
            </a:r>
          </a:p>
        </p:txBody>
      </p:sp>
      <p:sp>
        <p:nvSpPr>
          <p:cNvPr id="17430" name="Method step detail 1">
            <a:extLst>
              <a:ext uri="{FF2B5EF4-FFF2-40B4-BE49-F238E27FC236}">
                <a16:creationId xmlns:a16="http://schemas.microsoft.com/office/drawing/2014/main" id="{C6A12C57-7E32-41FF-9305-9DB74ADC8005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17049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DOM and visible screen</a:t>
            </a:r>
          </a:p>
        </p:txBody>
      </p:sp>
      <p:sp>
        <p:nvSpPr>
          <p:cNvPr id="17431" name="Method step 2">
            <a:extLst>
              <a:ext uri="{FF2B5EF4-FFF2-40B4-BE49-F238E27FC236}">
                <a16:creationId xmlns:a16="http://schemas.microsoft.com/office/drawing/2014/main" id="{0CCA0B52-8023-4D9E-8C0A-643F0362342A}"/>
              </a:ext>
            </a:extLst>
          </p:cNvPr>
          <p:cNvSpPr>
            <a:spLocks noGrp="1"/>
          </p:cNvSpPr>
          <p:nvPr/>
        </p:nvSpPr>
        <p:spPr>
          <a:xfrm>
            <a:off x="2847975" y="3143250"/>
            <a:ext cx="1971675" cy="1352550"/>
          </a:xfrm>
          <a:prstGeom prst="roundRect">
            <a:avLst>
              <a:gd name="adj" fmla="val 8451"/>
            </a:avLst>
          </a:prstGeom>
          <a:solidFill>
            <a:srgbClr val="F4F8FB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7432" name="Method step title 2">
            <a:extLst>
              <a:ext uri="{FF2B5EF4-FFF2-40B4-BE49-F238E27FC236}">
                <a16:creationId xmlns:a16="http://schemas.microsoft.com/office/drawing/2014/main" id="{1A17C58D-6F0D-41EC-87DF-2D10E12970DF}"/>
              </a:ext>
            </a:extLst>
          </p:cNvPr>
          <p:cNvSpPr>
            <a:spLocks noGrp="1"/>
          </p:cNvSpPr>
          <p:nvPr/>
        </p:nvSpPr>
        <p:spPr>
          <a:xfrm>
            <a:off x="2943225" y="3352800"/>
            <a:ext cx="1781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02  Detect</a:t>
            </a:r>
          </a:p>
        </p:txBody>
      </p:sp>
      <p:sp>
        <p:nvSpPr>
          <p:cNvPr id="17433" name="Method step detail 2">
            <a:extLst>
              <a:ext uri="{FF2B5EF4-FFF2-40B4-BE49-F238E27FC236}">
                <a16:creationId xmlns:a16="http://schemas.microsoft.com/office/drawing/2014/main" id="{1044086C-00DF-4AB6-A5E7-4A804A979406}"/>
              </a:ext>
            </a:extLst>
          </p:cNvPr>
          <p:cNvSpPr>
            <a:spLocks noGrp="1"/>
          </p:cNvSpPr>
          <p:nvPr/>
        </p:nvSpPr>
        <p:spPr>
          <a:xfrm>
            <a:off x="2981325" y="3790950"/>
            <a:ext cx="17049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vision + OCR + rules</a:t>
            </a:r>
          </a:p>
        </p:txBody>
      </p:sp>
      <p:sp>
        <p:nvSpPr>
          <p:cNvPr id="17434" name="Method step 3">
            <a:extLst>
              <a:ext uri="{FF2B5EF4-FFF2-40B4-BE49-F238E27FC236}">
                <a16:creationId xmlns:a16="http://schemas.microsoft.com/office/drawing/2014/main" id="{27E79777-B00A-4E77-94EB-E3488F55C43E}"/>
              </a:ext>
            </a:extLst>
          </p:cNvPr>
          <p:cNvSpPr>
            <a:spLocks noGrp="1"/>
          </p:cNvSpPr>
          <p:nvPr/>
        </p:nvSpPr>
        <p:spPr>
          <a:xfrm>
            <a:off x="5162550" y="3143250"/>
            <a:ext cx="1971675" cy="1352550"/>
          </a:xfrm>
          <a:prstGeom prst="roundRect">
            <a:avLst>
              <a:gd name="adj" fmla="val 8451"/>
            </a:avLst>
          </a:prstGeom>
          <a:solidFill>
            <a:srgbClr val="FFF4E8"/>
          </a:solidFill>
          <a:ln w="11430">
            <a:solidFill>
              <a:srgbClr val="EF7D00"/>
            </a:solidFill>
            <a:prstDash val="solid"/>
          </a:ln>
        </p:spPr>
      </p:sp>
      <p:sp>
        <p:nvSpPr>
          <p:cNvPr id="17435" name="Method step title 3">
            <a:extLst>
              <a:ext uri="{FF2B5EF4-FFF2-40B4-BE49-F238E27FC236}">
                <a16:creationId xmlns:a16="http://schemas.microsoft.com/office/drawing/2014/main" id="{D9F8E4B0-B80D-4796-9DD7-7DC32C6C76A9}"/>
              </a:ext>
            </a:extLst>
          </p:cNvPr>
          <p:cNvSpPr>
            <a:spLocks noGrp="1"/>
          </p:cNvSpPr>
          <p:nvPr/>
        </p:nvSpPr>
        <p:spPr>
          <a:xfrm>
            <a:off x="5257800" y="3352800"/>
            <a:ext cx="1781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EF7D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F7D00"/>
                </a:solidFill>
                <a:latin typeface="Arial"/>
                <a:ea typeface="Arial"/>
                <a:cs typeface="Arial"/>
              </a:rPr>
              <a:t>03  Redact</a:t>
            </a:r>
          </a:p>
        </p:txBody>
      </p:sp>
      <p:sp>
        <p:nvSpPr>
          <p:cNvPr id="17436" name="Method step detail 3">
            <a:extLst>
              <a:ext uri="{FF2B5EF4-FFF2-40B4-BE49-F238E27FC236}">
                <a16:creationId xmlns:a16="http://schemas.microsoft.com/office/drawing/2014/main" id="{10B68DB4-4D07-45A6-905E-C27F9A933E83}"/>
              </a:ext>
            </a:extLst>
          </p:cNvPr>
          <p:cNvSpPr>
            <a:spLocks noGrp="1"/>
          </p:cNvSpPr>
          <p:nvPr/>
        </p:nvSpPr>
        <p:spPr>
          <a:xfrm>
            <a:off x="5295900" y="3790950"/>
            <a:ext cx="17049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Policy runs before network</a:t>
            </a:r>
          </a:p>
        </p:txBody>
      </p:sp>
      <p:sp>
        <p:nvSpPr>
          <p:cNvPr id="17437" name="Method step 4">
            <a:extLst>
              <a:ext uri="{FF2B5EF4-FFF2-40B4-BE49-F238E27FC236}">
                <a16:creationId xmlns:a16="http://schemas.microsoft.com/office/drawing/2014/main" id="{019B9CD6-02FD-48A8-BFAF-8F185D098021}"/>
              </a:ext>
            </a:extLst>
          </p:cNvPr>
          <p:cNvSpPr>
            <a:spLocks noGrp="1"/>
          </p:cNvSpPr>
          <p:nvPr/>
        </p:nvSpPr>
        <p:spPr>
          <a:xfrm>
            <a:off x="7477125" y="3143250"/>
            <a:ext cx="1971675" cy="1352550"/>
          </a:xfrm>
          <a:prstGeom prst="roundRect">
            <a:avLst>
              <a:gd name="adj" fmla="val 8451"/>
            </a:avLst>
          </a:prstGeom>
          <a:solidFill>
            <a:srgbClr val="F4F8FB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7438" name="Method step title 4">
            <a:extLst>
              <a:ext uri="{FF2B5EF4-FFF2-40B4-BE49-F238E27FC236}">
                <a16:creationId xmlns:a16="http://schemas.microsoft.com/office/drawing/2014/main" id="{D1312D0A-369D-4C81-AB0F-6F5D99E4936F}"/>
              </a:ext>
            </a:extLst>
          </p:cNvPr>
          <p:cNvSpPr>
            <a:spLocks noGrp="1"/>
          </p:cNvSpPr>
          <p:nvPr/>
        </p:nvSpPr>
        <p:spPr>
          <a:xfrm>
            <a:off x="7572375" y="3352800"/>
            <a:ext cx="1781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04  Reason</a:t>
            </a:r>
          </a:p>
        </p:txBody>
      </p:sp>
      <p:sp>
        <p:nvSpPr>
          <p:cNvPr id="17439" name="Method step detail 4">
            <a:extLst>
              <a:ext uri="{FF2B5EF4-FFF2-40B4-BE49-F238E27FC236}">
                <a16:creationId xmlns:a16="http://schemas.microsoft.com/office/drawing/2014/main" id="{21E22A03-CE84-48D6-88FD-9A454188AF27}"/>
              </a:ext>
            </a:extLst>
          </p:cNvPr>
          <p:cNvSpPr>
            <a:spLocks noGrp="1"/>
          </p:cNvSpPr>
          <p:nvPr/>
        </p:nvSpPr>
        <p:spPr>
          <a:xfrm>
            <a:off x="7610475" y="3790950"/>
            <a:ext cx="17049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Server sees safe context</a:t>
            </a:r>
          </a:p>
        </p:txBody>
      </p:sp>
      <p:sp>
        <p:nvSpPr>
          <p:cNvPr id="17440" name="Method step 5">
            <a:extLst>
              <a:ext uri="{FF2B5EF4-FFF2-40B4-BE49-F238E27FC236}">
                <a16:creationId xmlns:a16="http://schemas.microsoft.com/office/drawing/2014/main" id="{0FF4B9BF-0FBB-41AD-AE26-9F01AD7405C8}"/>
              </a:ext>
            </a:extLst>
          </p:cNvPr>
          <p:cNvSpPr>
            <a:spLocks noGrp="1"/>
          </p:cNvSpPr>
          <p:nvPr/>
        </p:nvSpPr>
        <p:spPr>
          <a:xfrm>
            <a:off x="9791700" y="3143250"/>
            <a:ext cx="1971675" cy="1352550"/>
          </a:xfrm>
          <a:prstGeom prst="roundRect">
            <a:avLst>
              <a:gd name="adj" fmla="val 8451"/>
            </a:avLst>
          </a:prstGeom>
          <a:solidFill>
            <a:srgbClr val="F4F8FB"/>
          </a:solidFill>
          <a:ln w="11430">
            <a:solidFill>
              <a:srgbClr val="B8CAD8"/>
            </a:solidFill>
            <a:prstDash val="solid"/>
          </a:ln>
        </p:spPr>
      </p:sp>
      <p:sp>
        <p:nvSpPr>
          <p:cNvPr id="17441" name="Method step title 5">
            <a:extLst>
              <a:ext uri="{FF2B5EF4-FFF2-40B4-BE49-F238E27FC236}">
                <a16:creationId xmlns:a16="http://schemas.microsoft.com/office/drawing/2014/main" id="{29806A6B-D317-4BF8-AA17-0CCB0CDACA15}"/>
              </a:ext>
            </a:extLst>
          </p:cNvPr>
          <p:cNvSpPr>
            <a:spLocks noGrp="1"/>
          </p:cNvSpPr>
          <p:nvPr/>
        </p:nvSpPr>
        <p:spPr>
          <a:xfrm>
            <a:off x="9886950" y="3352800"/>
            <a:ext cx="1781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05  Execute</a:t>
            </a:r>
          </a:p>
        </p:txBody>
      </p:sp>
      <p:sp>
        <p:nvSpPr>
          <p:cNvPr id="17442" name="Method step detail 5">
            <a:extLst>
              <a:ext uri="{FF2B5EF4-FFF2-40B4-BE49-F238E27FC236}">
                <a16:creationId xmlns:a16="http://schemas.microsoft.com/office/drawing/2014/main" id="{513983B3-01DD-426B-8759-7A20C5EF7A3C}"/>
              </a:ext>
            </a:extLst>
          </p:cNvPr>
          <p:cNvSpPr>
            <a:spLocks noGrp="1"/>
          </p:cNvSpPr>
          <p:nvPr/>
        </p:nvSpPr>
        <p:spPr>
          <a:xfrm>
            <a:off x="9925050" y="3790950"/>
            <a:ext cx="17049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Validate plan on page</a:t>
            </a:r>
          </a:p>
        </p:txBody>
      </p:sp>
      <p:cxnSp>
        <p:nvCxnSpPr>
          <p:cNvPr id="17485" name="Straight Arrow Connector 17484"/>
          <p:cNvCxnSpPr>
            <a:stCxn id="17428" idx="3"/>
            <a:endCxn id="17431" idx="1"/>
          </p:cNvCxnSpPr>
          <p:nvPr/>
        </p:nvCxnSpPr>
        <p:spPr>
          <a:xfrm>
            <a:off x="2505075" y="3819525"/>
            <a:ext cx="342900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7486" name="Straight Arrow Connector 17485"/>
          <p:cNvCxnSpPr>
            <a:stCxn id="17431" idx="3"/>
            <a:endCxn id="17434" idx="1"/>
          </p:cNvCxnSpPr>
          <p:nvPr/>
        </p:nvCxnSpPr>
        <p:spPr>
          <a:xfrm>
            <a:off x="4819650" y="3819525"/>
            <a:ext cx="342900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7487" name="Straight Arrow Connector 17486"/>
          <p:cNvCxnSpPr>
            <a:stCxn id="17434" idx="3"/>
            <a:endCxn id="17437" idx="1"/>
          </p:cNvCxnSpPr>
          <p:nvPr/>
        </p:nvCxnSpPr>
        <p:spPr>
          <a:xfrm>
            <a:off x="7134225" y="3819525"/>
            <a:ext cx="342900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cxnSp>
        <p:nvCxnSpPr>
          <p:cNvPr id="17488" name="Straight Arrow Connector 17487"/>
          <p:cNvCxnSpPr>
            <a:stCxn id="17437" idx="3"/>
            <a:endCxn id="17440" idx="1"/>
          </p:cNvCxnSpPr>
          <p:nvPr/>
        </p:nvCxnSpPr>
        <p:spPr>
          <a:xfrm>
            <a:off x="9448800" y="3819525"/>
            <a:ext cx="342900" cy="0"/>
          </a:xfrm>
          <a:prstGeom prst="straightConnector1">
            <a:avLst/>
          </a:prstGeom>
          <a:ln w="19050">
            <a:solidFill>
              <a:srgbClr val="0879BE"/>
            </a:solidFill>
            <a:prstDash val="solid"/>
            <a:tailEnd type="triangle" w="sm" len="sm"/>
          </a:ln>
        </p:spPr>
      </p:cxnSp>
      <p:sp>
        <p:nvSpPr>
          <p:cNvPr id="17447" name="Benchmark note">
            <a:extLst>
              <a:ext uri="{FF2B5EF4-FFF2-40B4-BE49-F238E27FC236}">
                <a16:creationId xmlns:a16="http://schemas.microsoft.com/office/drawing/2014/main" id="{446DC05B-6AF4-4813-9640-DEFB12B09CEF}"/>
              </a:ext>
            </a:extLst>
          </p:cNvPr>
          <p:cNvSpPr>
            <a:spLocks noGrp="1"/>
          </p:cNvSpPr>
          <p:nvPr/>
        </p:nvSpPr>
        <p:spPr>
          <a:xfrm>
            <a:off x="647700" y="4810125"/>
            <a:ext cx="10810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B5966"/>
                </a:solidFill>
                <a:latin typeface="Arial"/>
                <a:ea typeface="Arial"/>
                <a:cs typeface="Arial"/>
              </a:rPr>
              <a:t>Model size, accuracy, browser support and latency will be benchmarked before a model is selected.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9CEF2729-C29B-A094-81AC-4FD3C440D0E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2731" y="6423818"/>
            <a:ext cx="4308987" cy="365125"/>
          </a:xfrm>
        </p:spPr>
        <p:txBody>
          <a:bodyPr/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SMART INDIA HACKATHON 2026 - PRIVAGENT</a:t>
            </a:r>
            <a:endParaRPr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337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93E46B3-9ECC-4332-A565-09B221F3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E9DCD-9BF3-4846-9CA8-8148E9A42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8100" tIns="0" rIns="38100" bIns="0" anchor="ctr">
            <a:normAutofit/>
          </a:bodyPr>
          <a:lstStyle/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BLUE</a:t>
            </a:r>
            <a:endParaRPr/>
          </a:p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HORIZON</a:t>
            </a:r>
            <a:endParaRPr/>
          </a:p>
        </p:txBody>
      </p:sp>
      <p:pic>
        <p:nvPicPr>
          <p:cNvPr id="1742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Feasibility prompt">
            <a:extLst>
              <a:ext uri="{FF2B5EF4-FFF2-40B4-BE49-F238E27FC236}">
                <a16:creationId xmlns:a16="http://schemas.microsoft.com/office/drawing/2014/main" id="{0DAC26F8-3ABD-4705-A541-5464B675FCDF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3286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</p:txBody>
      </p:sp>
      <p:sp>
        <p:nvSpPr>
          <p:cNvPr id="17413" name="Feasibility body">
            <a:extLst>
              <a:ext uri="{FF2B5EF4-FFF2-40B4-BE49-F238E27FC236}">
                <a16:creationId xmlns:a16="http://schemas.microsoft.com/office/drawing/2014/main" id="{C3F4CEFD-1FD7-4B1D-9EAA-5B7D3CE04DF6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32861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browser extension can combine page structure with visual context.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ONNX Runtime Web supports browser inference through WebGPU and WebAssembly.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design keeps heavy reasoning on a server while local checks protect the request.</a:t>
            </a:r>
          </a:p>
        </p:txBody>
      </p:sp>
      <p:sp>
        <p:nvSpPr>
          <p:cNvPr id="17414" name="Feasibility divider 1">
            <a:extLst>
              <a:ext uri="{FF2B5EF4-FFF2-40B4-BE49-F238E27FC236}">
                <a16:creationId xmlns:a16="http://schemas.microsoft.com/office/drawing/2014/main" id="{BE8D7CEC-C604-4E59-AD56-F35608766AB2}"/>
              </a:ext>
            </a:extLst>
          </p:cNvPr>
          <p:cNvSpPr>
            <a:spLocks noGrp="1"/>
          </p:cNvSpPr>
          <p:nvPr/>
        </p:nvSpPr>
        <p:spPr>
          <a:xfrm>
            <a:off x="4076700" y="1495425"/>
            <a:ext cx="0" cy="4181475"/>
          </a:xfrm>
          <a:prstGeom prst="line">
            <a:avLst/>
          </a:prstGeom>
          <a:noFill/>
          <a:ln w="12383">
            <a:solidFill>
              <a:srgbClr val="DDE6ED"/>
            </a:solidFill>
            <a:prstDash val="solid"/>
          </a:ln>
        </p:spPr>
      </p:sp>
      <p:sp>
        <p:nvSpPr>
          <p:cNvPr id="17415" name="Risk prompt">
            <a:extLst>
              <a:ext uri="{FF2B5EF4-FFF2-40B4-BE49-F238E27FC236}">
                <a16:creationId xmlns:a16="http://schemas.microsoft.com/office/drawing/2014/main" id="{64CB422B-B5B9-4EC3-89FE-003C4C3427BD}"/>
              </a:ext>
            </a:extLst>
          </p:cNvPr>
          <p:cNvSpPr>
            <a:spLocks noGrp="1"/>
          </p:cNvSpPr>
          <p:nvPr/>
        </p:nvSpPr>
        <p:spPr>
          <a:xfrm>
            <a:off x="4305300" y="1457325"/>
            <a:ext cx="3286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16" name="Risk body">
            <a:extLst>
              <a:ext uri="{FF2B5EF4-FFF2-40B4-BE49-F238E27FC236}">
                <a16:creationId xmlns:a16="http://schemas.microsoft.com/office/drawing/2014/main" id="{2EE229C1-506B-4F04-8F32-D5F364B7CFC6}"/>
              </a:ext>
            </a:extLst>
          </p:cNvPr>
          <p:cNvSpPr>
            <a:spLocks noGrp="1"/>
          </p:cNvSpPr>
          <p:nvPr/>
        </p:nvSpPr>
        <p:spPr>
          <a:xfrm>
            <a:off x="4305300" y="2209800"/>
            <a:ext cx="3286125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PII may be missed when content appears only in a screenshot.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Model performance varies by device and browser.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server action can be stale or unsafe for the current page.</a:t>
            </a:r>
          </a:p>
        </p:txBody>
      </p:sp>
      <p:sp>
        <p:nvSpPr>
          <p:cNvPr id="17417" name="Feasibility divider 2">
            <a:extLst>
              <a:ext uri="{FF2B5EF4-FFF2-40B4-BE49-F238E27FC236}">
                <a16:creationId xmlns:a16="http://schemas.microsoft.com/office/drawing/2014/main" id="{1651AE31-4B62-4489-80B7-D7BAA9BE299D}"/>
              </a:ext>
            </a:extLst>
          </p:cNvPr>
          <p:cNvSpPr>
            <a:spLocks noGrp="1"/>
          </p:cNvSpPr>
          <p:nvPr/>
        </p:nvSpPr>
        <p:spPr>
          <a:xfrm>
            <a:off x="7772400" y="1495425"/>
            <a:ext cx="0" cy="4181475"/>
          </a:xfrm>
          <a:prstGeom prst="line">
            <a:avLst/>
          </a:prstGeom>
          <a:noFill/>
          <a:ln w="12383">
            <a:solidFill>
              <a:srgbClr val="DDE6ED"/>
            </a:solidFill>
            <a:prstDash val="solid"/>
          </a:ln>
        </p:spPr>
      </p:sp>
      <p:sp>
        <p:nvSpPr>
          <p:cNvPr id="17418" name="Mitigation prompt">
            <a:extLst>
              <a:ext uri="{FF2B5EF4-FFF2-40B4-BE49-F238E27FC236}">
                <a16:creationId xmlns:a16="http://schemas.microsoft.com/office/drawing/2014/main" id="{B44B63AF-F866-44C5-9C06-ACFD5A33F23F}"/>
              </a:ext>
            </a:extLst>
          </p:cNvPr>
          <p:cNvSpPr>
            <a:spLocks noGrp="1"/>
          </p:cNvSpPr>
          <p:nvPr/>
        </p:nvSpPr>
        <p:spPr>
          <a:xfrm>
            <a:off x="8001000" y="1457325"/>
            <a:ext cx="3286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  <p:sp>
        <p:nvSpPr>
          <p:cNvPr id="17419" name="Mitigation body">
            <a:extLst>
              <a:ext uri="{FF2B5EF4-FFF2-40B4-BE49-F238E27FC236}">
                <a16:creationId xmlns:a16="http://schemas.microsoft.com/office/drawing/2014/main" id="{A5491A39-42EA-4BA2-93C8-EB409F2C2AFB}"/>
              </a:ext>
            </a:extLst>
          </p:cNvPr>
          <p:cNvSpPr>
            <a:spLocks noGrp="1"/>
          </p:cNvSpPr>
          <p:nvPr/>
        </p:nvSpPr>
        <p:spPr>
          <a:xfrm>
            <a:off x="8001000" y="2209800"/>
            <a:ext cx="3286125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Combine DOM signals, OCR, visual detection and rules.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 small model in a worker, with a WASM fallback.</a:t>
            </a:r>
          </a:p>
          <a:p>
            <a:endParaRPr sz="1500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Fail closed, then validate allow-listed actions against the live page. Block typing into protected fields.</a:t>
            </a:r>
          </a:p>
        </p:txBody>
      </p:sp>
      <p:sp>
        <p:nvSpPr>
          <p:cNvPr id="17420" name="Feasibility qualifier">
            <a:extLst>
              <a:ext uri="{FF2B5EF4-FFF2-40B4-BE49-F238E27FC236}">
                <a16:creationId xmlns:a16="http://schemas.microsoft.com/office/drawing/2014/main" id="{65AD9AC9-A6E3-4A75-B78C-6FF90BD63CF4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B5966"/>
                </a:solidFill>
                <a:latin typeface="Arial"/>
                <a:ea typeface="Arial"/>
                <a:cs typeface="Arial"/>
              </a:rPr>
              <a:t>Model choice and resource use remain benchmark decisions; the current proposal does not claim measured performance.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3E5DE4B-2B0D-E83C-EF20-39441F7B1DD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2731" y="6423818"/>
            <a:ext cx="4308987" cy="365125"/>
          </a:xfrm>
        </p:spPr>
        <p:txBody>
          <a:bodyPr/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SMART INDIA HACKATHON 2026 - PRIVAGENT</a:t>
            </a:r>
            <a:endParaRPr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98F348BB-6893-410E-8BAD-FE6DE2AB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DC2A3-895B-4F7C-8ED0-E4CC6F300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8100" tIns="0" rIns="38100" bIns="0" anchor="ctr">
            <a:normAutofit/>
          </a:bodyPr>
          <a:lstStyle/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BLUE</a:t>
            </a:r>
            <a:endParaRPr/>
          </a:p>
          <a:p>
            <a:pPr algn="ctr">
              <a:buNone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12B"/>
                </a:solidFill>
                <a:latin typeface="Arial"/>
                <a:ea typeface="Arial"/>
                <a:cs typeface="Arial"/>
              </a:rPr>
              <a:t>HORIZON</a:t>
            </a:r>
            <a:endParaRPr/>
          </a:p>
        </p:txBody>
      </p:sp>
      <p:pic>
        <p:nvPicPr>
          <p:cNvPr id="1744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Impact pointer">
            <a:extLst>
              <a:ext uri="{FF2B5EF4-FFF2-40B4-BE49-F238E27FC236}">
                <a16:creationId xmlns:a16="http://schemas.microsoft.com/office/drawing/2014/main" id="{AF69423D-D3E4-4E15-8D94-40B8C759A1DF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3" name="Impact copy">
            <a:extLst>
              <a:ext uri="{FF2B5EF4-FFF2-40B4-BE49-F238E27FC236}">
                <a16:creationId xmlns:a16="http://schemas.microsoft.com/office/drawing/2014/main" id="{4C87CB23-3326-4A7C-B9E4-6F6E2775CDDB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49530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Browser users working with private portals and dashboards.</a:t>
            </a:r>
          </a:p>
          <a:p>
            <a:endParaRPr sz="1425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People repeating structured web tasks.</a:t>
            </a:r>
          </a:p>
          <a:p>
            <a:endParaRPr sz="1425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Organizations seeking to minimize screen data sent to AI services.</a:t>
            </a:r>
          </a:p>
        </p:txBody>
      </p:sp>
      <p:sp>
        <p:nvSpPr>
          <p:cNvPr id="17414" name="Impact divider">
            <a:extLst>
              <a:ext uri="{FF2B5EF4-FFF2-40B4-BE49-F238E27FC236}">
                <a16:creationId xmlns:a16="http://schemas.microsoft.com/office/drawing/2014/main" id="{20A8CD1E-004B-4AB4-86D7-2AAC00FE20A9}"/>
              </a:ext>
            </a:extLst>
          </p:cNvPr>
          <p:cNvSpPr>
            <a:spLocks noGrp="1"/>
          </p:cNvSpPr>
          <p:nvPr/>
        </p:nvSpPr>
        <p:spPr>
          <a:xfrm>
            <a:off x="5953125" y="1295400"/>
            <a:ext cx="0" cy="2085975"/>
          </a:xfrm>
          <a:prstGeom prst="line">
            <a:avLst/>
          </a:prstGeom>
          <a:noFill/>
          <a:ln w="11430">
            <a:solidFill>
              <a:srgbClr val="DDE6ED"/>
            </a:solidFill>
            <a:prstDash val="solid"/>
          </a:ln>
        </p:spPr>
      </p:sp>
      <p:sp>
        <p:nvSpPr>
          <p:cNvPr id="17415" name="Benefits pointer">
            <a:extLst>
              <a:ext uri="{FF2B5EF4-FFF2-40B4-BE49-F238E27FC236}">
                <a16:creationId xmlns:a16="http://schemas.microsoft.com/office/drawing/2014/main" id="{291E9FCF-A237-4905-8AF8-FEC802E28595}"/>
              </a:ext>
            </a:extLst>
          </p:cNvPr>
          <p:cNvSpPr>
            <a:spLocks noGrp="1"/>
          </p:cNvSpPr>
          <p:nvPr/>
        </p:nvSpPr>
        <p:spPr>
          <a:xfrm>
            <a:off x="6334125" y="125730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17416" name="Benefits copy">
            <a:extLst>
              <a:ext uri="{FF2B5EF4-FFF2-40B4-BE49-F238E27FC236}">
                <a16:creationId xmlns:a16="http://schemas.microsoft.com/office/drawing/2014/main" id="{F979EC3A-C4D4-462C-BF4E-466FBA20037C}"/>
              </a:ext>
            </a:extLst>
          </p:cNvPr>
          <p:cNvSpPr>
            <a:spLocks noGrp="1"/>
          </p:cNvSpPr>
          <p:nvPr/>
        </p:nvSpPr>
        <p:spPr>
          <a:xfrm>
            <a:off x="6334125" y="1838325"/>
            <a:ext cx="52387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87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Designed to keep sensitive values on-device until a privacy check clears the request.</a:t>
            </a:r>
          </a:p>
          <a:p>
            <a:endParaRPr sz="1425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Server reasoning uses sanitized task context.</a:t>
            </a:r>
          </a:p>
          <a:p>
            <a:endParaRPr sz="1425" b="0">
              <a:solidFill>
                <a:srgbClr val="17212B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policy can block unsafe actions, with an audit trail for review.</a:t>
            </a:r>
          </a:p>
        </p:txBody>
      </p:sp>
      <p:sp>
        <p:nvSpPr>
          <p:cNvPr id="17417" name="Rubric title">
            <a:extLst>
              <a:ext uri="{FF2B5EF4-FFF2-40B4-BE49-F238E27FC236}">
                <a16:creationId xmlns:a16="http://schemas.microsoft.com/office/drawing/2014/main" id="{D7955579-C42C-4941-80AC-FF2C82D5EC80}"/>
              </a:ext>
            </a:extLst>
          </p:cNvPr>
          <p:cNvSpPr>
            <a:spLocks noGrp="1"/>
          </p:cNvSpPr>
          <p:nvPr/>
        </p:nvSpPr>
        <p:spPr>
          <a:xfrm>
            <a:off x="609600" y="3590925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SIH evaluation weights  |  100% total</a:t>
            </a:r>
          </a:p>
        </p:txBody>
      </p:sp>
      <p:sp>
        <p:nvSpPr>
          <p:cNvPr id="17418" name="Metric label 1">
            <a:extLst>
              <a:ext uri="{FF2B5EF4-FFF2-40B4-BE49-F238E27FC236}">
                <a16:creationId xmlns:a16="http://schemas.microsoft.com/office/drawing/2014/main" id="{C2AF6663-4D06-4839-B3E2-F868D7356D4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Visual context accuracy</a:t>
            </a:r>
          </a:p>
        </p:txBody>
      </p:sp>
      <p:sp>
        <p:nvSpPr>
          <p:cNvPr id="17419" name="Metric weight 1">
            <a:extLst>
              <a:ext uri="{FF2B5EF4-FFF2-40B4-BE49-F238E27FC236}">
                <a16:creationId xmlns:a16="http://schemas.microsoft.com/office/drawing/2014/main" id="{EA5167EF-86A9-40AE-8566-58FBE37D69C0}"/>
              </a:ext>
            </a:extLst>
          </p:cNvPr>
          <p:cNvSpPr>
            <a:spLocks noGrp="1"/>
          </p:cNvSpPr>
          <p:nvPr/>
        </p:nvSpPr>
        <p:spPr>
          <a:xfrm>
            <a:off x="3219450" y="4095750"/>
            <a:ext cx="533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7420" name="Metric track 1">
            <a:extLst>
              <a:ext uri="{FF2B5EF4-FFF2-40B4-BE49-F238E27FC236}">
                <a16:creationId xmlns:a16="http://schemas.microsoft.com/office/drawing/2014/main" id="{E14FDF70-48B0-4D81-950A-DB09B0D0CC7D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2571750" cy="95250"/>
          </a:xfrm>
          <a:prstGeom prst="rect">
            <a:avLst/>
          </a:prstGeom>
          <a:solidFill>
            <a:srgbClr val="DDE6ED"/>
          </a:solidFill>
          <a:ln w="11430">
            <a:solidFill>
              <a:srgbClr val="DDE6ED"/>
            </a:solidFill>
            <a:prstDash val="solid"/>
          </a:ln>
        </p:spPr>
      </p:sp>
      <p:sp>
        <p:nvSpPr>
          <p:cNvPr id="17421" name="Metric value 1">
            <a:extLst>
              <a:ext uri="{FF2B5EF4-FFF2-40B4-BE49-F238E27FC236}">
                <a16:creationId xmlns:a16="http://schemas.microsoft.com/office/drawing/2014/main" id="{2FA704F6-FE8F-4FBD-8A05-01DD0ACD412F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2571750" cy="95250"/>
          </a:xfrm>
          <a:prstGeom prst="rect">
            <a:avLst/>
          </a:prstGeom>
          <a:solidFill>
            <a:srgbClr val="0879BE"/>
          </a:solidFill>
          <a:ln w="0">
            <a:noFill/>
            <a:prstDash val="solid"/>
          </a:ln>
        </p:spPr>
      </p:sp>
      <p:sp>
        <p:nvSpPr>
          <p:cNvPr id="17422" name="Metric label 2">
            <a:extLst>
              <a:ext uri="{FF2B5EF4-FFF2-40B4-BE49-F238E27FC236}">
                <a16:creationId xmlns:a16="http://schemas.microsoft.com/office/drawing/2014/main" id="{F66E242F-134A-44CC-B69A-A66EB08249DE}"/>
              </a:ext>
            </a:extLst>
          </p:cNvPr>
          <p:cNvSpPr>
            <a:spLocks noGrp="1"/>
          </p:cNvSpPr>
          <p:nvPr/>
        </p:nvSpPr>
        <p:spPr>
          <a:xfrm>
            <a:off x="4333875" y="409575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PII precision and recall</a:t>
            </a:r>
          </a:p>
        </p:txBody>
      </p:sp>
      <p:sp>
        <p:nvSpPr>
          <p:cNvPr id="17423" name="Metric weight 2">
            <a:extLst>
              <a:ext uri="{FF2B5EF4-FFF2-40B4-BE49-F238E27FC236}">
                <a16:creationId xmlns:a16="http://schemas.microsoft.com/office/drawing/2014/main" id="{2C32C382-E18A-4E27-88C4-893A62D1893A}"/>
              </a:ext>
            </a:extLst>
          </p:cNvPr>
          <p:cNvSpPr>
            <a:spLocks noGrp="1"/>
          </p:cNvSpPr>
          <p:nvPr/>
        </p:nvSpPr>
        <p:spPr>
          <a:xfrm>
            <a:off x="6943725" y="4095750"/>
            <a:ext cx="533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7424" name="Metric track 2">
            <a:extLst>
              <a:ext uri="{FF2B5EF4-FFF2-40B4-BE49-F238E27FC236}">
                <a16:creationId xmlns:a16="http://schemas.microsoft.com/office/drawing/2014/main" id="{B00C8B78-931D-4BFF-B9DA-9BA34CD4041B}"/>
              </a:ext>
            </a:extLst>
          </p:cNvPr>
          <p:cNvSpPr>
            <a:spLocks noGrp="1"/>
          </p:cNvSpPr>
          <p:nvPr/>
        </p:nvSpPr>
        <p:spPr>
          <a:xfrm>
            <a:off x="4333875" y="4448175"/>
            <a:ext cx="2571750" cy="95250"/>
          </a:xfrm>
          <a:prstGeom prst="rect">
            <a:avLst/>
          </a:prstGeom>
          <a:solidFill>
            <a:srgbClr val="DDE6ED"/>
          </a:solidFill>
          <a:ln w="11430">
            <a:solidFill>
              <a:srgbClr val="DDE6ED"/>
            </a:solidFill>
            <a:prstDash val="solid"/>
          </a:ln>
        </p:spPr>
      </p:sp>
      <p:sp>
        <p:nvSpPr>
          <p:cNvPr id="17425" name="Metric value 2">
            <a:extLst>
              <a:ext uri="{FF2B5EF4-FFF2-40B4-BE49-F238E27FC236}">
                <a16:creationId xmlns:a16="http://schemas.microsoft.com/office/drawing/2014/main" id="{A5E6B13C-38B9-4944-8972-3BEDF995CDAA}"/>
              </a:ext>
            </a:extLst>
          </p:cNvPr>
          <p:cNvSpPr>
            <a:spLocks noGrp="1"/>
          </p:cNvSpPr>
          <p:nvPr/>
        </p:nvSpPr>
        <p:spPr>
          <a:xfrm>
            <a:off x="4333875" y="4448175"/>
            <a:ext cx="2057400" cy="95250"/>
          </a:xfrm>
          <a:prstGeom prst="rect">
            <a:avLst/>
          </a:prstGeom>
          <a:solidFill>
            <a:srgbClr val="EF7D00"/>
          </a:solidFill>
          <a:ln w="0">
            <a:noFill/>
            <a:prstDash val="solid"/>
          </a:ln>
        </p:spPr>
      </p:sp>
      <p:sp>
        <p:nvSpPr>
          <p:cNvPr id="17426" name="Metric label 3">
            <a:extLst>
              <a:ext uri="{FF2B5EF4-FFF2-40B4-BE49-F238E27FC236}">
                <a16:creationId xmlns:a16="http://schemas.microsoft.com/office/drawing/2014/main" id="{3FDDC8EA-C250-4FD4-ACDE-13EFA03E5E5F}"/>
              </a:ext>
            </a:extLst>
          </p:cNvPr>
          <p:cNvSpPr>
            <a:spLocks noGrp="1"/>
          </p:cNvSpPr>
          <p:nvPr/>
        </p:nvSpPr>
        <p:spPr>
          <a:xfrm>
            <a:off x="8058150" y="409575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Redaction precision</a:t>
            </a:r>
          </a:p>
        </p:txBody>
      </p:sp>
      <p:sp>
        <p:nvSpPr>
          <p:cNvPr id="17427" name="Metric weight 3">
            <a:extLst>
              <a:ext uri="{FF2B5EF4-FFF2-40B4-BE49-F238E27FC236}">
                <a16:creationId xmlns:a16="http://schemas.microsoft.com/office/drawing/2014/main" id="{07E87168-EAA9-4FD9-90D9-686AB6B67209}"/>
              </a:ext>
            </a:extLst>
          </p:cNvPr>
          <p:cNvSpPr>
            <a:spLocks noGrp="1"/>
          </p:cNvSpPr>
          <p:nvPr/>
        </p:nvSpPr>
        <p:spPr>
          <a:xfrm>
            <a:off x="10668000" y="4095750"/>
            <a:ext cx="533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7428" name="Metric track 3">
            <a:extLst>
              <a:ext uri="{FF2B5EF4-FFF2-40B4-BE49-F238E27FC236}">
                <a16:creationId xmlns:a16="http://schemas.microsoft.com/office/drawing/2014/main" id="{0559CCC9-4336-47DB-B876-11D2D94496AF}"/>
              </a:ext>
            </a:extLst>
          </p:cNvPr>
          <p:cNvSpPr>
            <a:spLocks noGrp="1"/>
          </p:cNvSpPr>
          <p:nvPr/>
        </p:nvSpPr>
        <p:spPr>
          <a:xfrm>
            <a:off x="8058150" y="4448175"/>
            <a:ext cx="2571750" cy="95250"/>
          </a:xfrm>
          <a:prstGeom prst="rect">
            <a:avLst/>
          </a:prstGeom>
          <a:solidFill>
            <a:srgbClr val="DDE6ED"/>
          </a:solidFill>
          <a:ln w="11430">
            <a:solidFill>
              <a:srgbClr val="DDE6ED"/>
            </a:solidFill>
            <a:prstDash val="solid"/>
          </a:ln>
        </p:spPr>
      </p:sp>
      <p:sp>
        <p:nvSpPr>
          <p:cNvPr id="17429" name="Metric value 3">
            <a:extLst>
              <a:ext uri="{FF2B5EF4-FFF2-40B4-BE49-F238E27FC236}">
                <a16:creationId xmlns:a16="http://schemas.microsoft.com/office/drawing/2014/main" id="{234ACFB1-D4D8-4040-A6B4-C54F50DDD502}"/>
              </a:ext>
            </a:extLst>
          </p:cNvPr>
          <p:cNvSpPr>
            <a:spLocks noGrp="1"/>
          </p:cNvSpPr>
          <p:nvPr/>
        </p:nvSpPr>
        <p:spPr>
          <a:xfrm>
            <a:off x="8058150" y="4448175"/>
            <a:ext cx="2057400" cy="95250"/>
          </a:xfrm>
          <a:prstGeom prst="rect">
            <a:avLst/>
          </a:prstGeom>
          <a:solidFill>
            <a:srgbClr val="0879BE"/>
          </a:solidFill>
          <a:ln w="0">
            <a:noFill/>
            <a:prstDash val="solid"/>
          </a:ln>
        </p:spPr>
      </p:sp>
      <p:sp>
        <p:nvSpPr>
          <p:cNvPr id="17430" name="Metric label 4">
            <a:extLst>
              <a:ext uri="{FF2B5EF4-FFF2-40B4-BE49-F238E27FC236}">
                <a16:creationId xmlns:a16="http://schemas.microsoft.com/office/drawing/2014/main" id="{7B8F847E-9DA7-4E4E-BD03-85D089DDA266}"/>
              </a:ext>
            </a:extLst>
          </p:cNvPr>
          <p:cNvSpPr>
            <a:spLocks noGrp="1"/>
          </p:cNvSpPr>
          <p:nvPr/>
        </p:nvSpPr>
        <p:spPr>
          <a:xfrm>
            <a:off x="2457450" y="5095875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Client resource use</a:t>
            </a:r>
          </a:p>
        </p:txBody>
      </p:sp>
      <p:sp>
        <p:nvSpPr>
          <p:cNvPr id="17431" name="Metric weight 4">
            <a:extLst>
              <a:ext uri="{FF2B5EF4-FFF2-40B4-BE49-F238E27FC236}">
                <a16:creationId xmlns:a16="http://schemas.microsoft.com/office/drawing/2014/main" id="{BD3644C7-9A19-47BE-A9D8-9D80F33F89F3}"/>
              </a:ext>
            </a:extLst>
          </p:cNvPr>
          <p:cNvSpPr>
            <a:spLocks noGrp="1"/>
          </p:cNvSpPr>
          <p:nvPr/>
        </p:nvSpPr>
        <p:spPr>
          <a:xfrm>
            <a:off x="5067300" y="5095875"/>
            <a:ext cx="533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7432" name="Metric track 4">
            <a:extLst>
              <a:ext uri="{FF2B5EF4-FFF2-40B4-BE49-F238E27FC236}">
                <a16:creationId xmlns:a16="http://schemas.microsoft.com/office/drawing/2014/main" id="{0890958A-34AE-4F18-B843-CCA367461401}"/>
              </a:ext>
            </a:extLst>
          </p:cNvPr>
          <p:cNvSpPr>
            <a:spLocks noGrp="1"/>
          </p:cNvSpPr>
          <p:nvPr/>
        </p:nvSpPr>
        <p:spPr>
          <a:xfrm>
            <a:off x="2457450" y="5448300"/>
            <a:ext cx="2571750" cy="95250"/>
          </a:xfrm>
          <a:prstGeom prst="rect">
            <a:avLst/>
          </a:prstGeom>
          <a:solidFill>
            <a:srgbClr val="DDE6ED"/>
          </a:solidFill>
          <a:ln w="11430">
            <a:solidFill>
              <a:srgbClr val="DDE6ED"/>
            </a:solidFill>
            <a:prstDash val="solid"/>
          </a:ln>
        </p:spPr>
      </p:sp>
      <p:sp>
        <p:nvSpPr>
          <p:cNvPr id="17433" name="Metric value 4">
            <a:extLst>
              <a:ext uri="{FF2B5EF4-FFF2-40B4-BE49-F238E27FC236}">
                <a16:creationId xmlns:a16="http://schemas.microsoft.com/office/drawing/2014/main" id="{B23BB82A-02A7-42E5-9AF8-7F44384D2E97}"/>
              </a:ext>
            </a:extLst>
          </p:cNvPr>
          <p:cNvSpPr>
            <a:spLocks noGrp="1"/>
          </p:cNvSpPr>
          <p:nvPr/>
        </p:nvSpPr>
        <p:spPr>
          <a:xfrm>
            <a:off x="2457450" y="5448300"/>
            <a:ext cx="2057400" cy="95250"/>
          </a:xfrm>
          <a:prstGeom prst="rect">
            <a:avLst/>
          </a:prstGeom>
          <a:solidFill>
            <a:srgbClr val="0879BE"/>
          </a:solidFill>
          <a:ln w="0">
            <a:noFill/>
            <a:prstDash val="solid"/>
          </a:ln>
        </p:spPr>
      </p:sp>
      <p:sp>
        <p:nvSpPr>
          <p:cNvPr id="17434" name="Metric label 5">
            <a:extLst>
              <a:ext uri="{FF2B5EF4-FFF2-40B4-BE49-F238E27FC236}">
                <a16:creationId xmlns:a16="http://schemas.microsoft.com/office/drawing/2014/main" id="{150A8ECC-F4B3-4CF4-AA67-A84E08FBA79F}"/>
              </a:ext>
            </a:extLst>
          </p:cNvPr>
          <p:cNvSpPr>
            <a:spLocks noGrp="1"/>
          </p:cNvSpPr>
          <p:nvPr/>
        </p:nvSpPr>
        <p:spPr>
          <a:xfrm>
            <a:off x="6191250" y="5095875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End-to-end latency</a:t>
            </a:r>
          </a:p>
        </p:txBody>
      </p:sp>
      <p:sp>
        <p:nvSpPr>
          <p:cNvPr id="17435" name="Metric weight 5">
            <a:extLst>
              <a:ext uri="{FF2B5EF4-FFF2-40B4-BE49-F238E27FC236}">
                <a16:creationId xmlns:a16="http://schemas.microsoft.com/office/drawing/2014/main" id="{15C8AE3D-E412-4FD7-A32C-14B3A2460A8D}"/>
              </a:ext>
            </a:extLst>
          </p:cNvPr>
          <p:cNvSpPr>
            <a:spLocks noGrp="1"/>
          </p:cNvSpPr>
          <p:nvPr/>
        </p:nvSpPr>
        <p:spPr>
          <a:xfrm>
            <a:off x="8801100" y="5095875"/>
            <a:ext cx="5334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4F87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7436" name="Metric track 5">
            <a:extLst>
              <a:ext uri="{FF2B5EF4-FFF2-40B4-BE49-F238E27FC236}">
                <a16:creationId xmlns:a16="http://schemas.microsoft.com/office/drawing/2014/main" id="{ADAB0C69-6CE6-4E5D-BA76-2BC514085282}"/>
              </a:ext>
            </a:extLst>
          </p:cNvPr>
          <p:cNvSpPr>
            <a:spLocks noGrp="1"/>
          </p:cNvSpPr>
          <p:nvPr/>
        </p:nvSpPr>
        <p:spPr>
          <a:xfrm>
            <a:off x="6191250" y="5448300"/>
            <a:ext cx="2571750" cy="95250"/>
          </a:xfrm>
          <a:prstGeom prst="rect">
            <a:avLst/>
          </a:prstGeom>
          <a:solidFill>
            <a:srgbClr val="DDE6ED"/>
          </a:solidFill>
          <a:ln w="11430">
            <a:solidFill>
              <a:srgbClr val="DDE6ED"/>
            </a:solidFill>
            <a:prstDash val="solid"/>
          </a:ln>
        </p:spPr>
      </p:sp>
      <p:sp>
        <p:nvSpPr>
          <p:cNvPr id="17437" name="Metric value 5">
            <a:extLst>
              <a:ext uri="{FF2B5EF4-FFF2-40B4-BE49-F238E27FC236}">
                <a16:creationId xmlns:a16="http://schemas.microsoft.com/office/drawing/2014/main" id="{6C9E7FBD-8F0C-495C-966C-E26F5389C99E}"/>
              </a:ext>
            </a:extLst>
          </p:cNvPr>
          <p:cNvSpPr>
            <a:spLocks noGrp="1"/>
          </p:cNvSpPr>
          <p:nvPr/>
        </p:nvSpPr>
        <p:spPr>
          <a:xfrm>
            <a:off x="6191250" y="5448300"/>
            <a:ext cx="1543050" cy="95250"/>
          </a:xfrm>
          <a:prstGeom prst="rect">
            <a:avLst/>
          </a:prstGeom>
          <a:solidFill>
            <a:srgbClr val="0879BE"/>
          </a:solidFill>
          <a:ln w="0">
            <a:noFill/>
            <a:prstDash val="solid"/>
          </a:ln>
        </p:spPr>
      </p:sp>
      <p:sp>
        <p:nvSpPr>
          <p:cNvPr id="17438" name="Impact caveat">
            <a:extLst>
              <a:ext uri="{FF2B5EF4-FFF2-40B4-BE49-F238E27FC236}">
                <a16:creationId xmlns:a16="http://schemas.microsoft.com/office/drawing/2014/main" id="{50D81179-341C-4558-9A10-8A3443B1C8F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4B59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966"/>
                </a:solidFill>
                <a:latin typeface="Arial"/>
                <a:ea typeface="Arial"/>
                <a:cs typeface="Arial"/>
              </a:rPr>
              <a:t>Weights show judging priorities, not PRIVAGENT results. Performance targets require measured prototype data.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117D895E-A383-EF24-642C-C4340B49D0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2731" y="6423818"/>
            <a:ext cx="4308987" cy="365125"/>
          </a:xfrm>
        </p:spPr>
        <p:txBody>
          <a:bodyPr/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SMART INDIA HACKATHON 2026 - PRIVAGENT</a:t>
            </a:r>
            <a:endParaRPr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Grp="1"/>
          </p:cNvSpPr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1CB516D-3CCF-46C3-B854-F64699146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2B2BE-F442-4E12-9080-CDCD057A63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TradeGothic"/>
                <a:cs typeface="TradeGothic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noGrp="1"/>
          </p:cNvSpPr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8100" tIns="0" rIns="3810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BLUE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17212B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HORIZON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17212B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43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eferences intro">
            <a:extLst>
              <a:ext uri="{FF2B5EF4-FFF2-40B4-BE49-F238E27FC236}">
                <a16:creationId xmlns:a16="http://schemas.microsoft.com/office/drawing/2014/main" id="{C4F8508E-ADE0-461C-94AE-E507CC47A9AE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810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74F8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Research and technical references used to shape the proposed design</a:t>
            </a:r>
          </a:p>
        </p:txBody>
      </p:sp>
      <p:sp>
        <p:nvSpPr>
          <p:cNvPr id="17413" name="Reference title 1">
            <a:extLst>
              <a:ext uri="{FF2B5EF4-FFF2-40B4-BE49-F238E27FC236}">
                <a16:creationId xmlns:a16="http://schemas.microsoft.com/office/drawing/2014/main" id="{DE6DEE3E-FE20-4A3F-AA24-186F436DD513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81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74F8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SIH 2026 Problem Statements Catalogue</a:t>
            </a:r>
          </a:p>
        </p:txBody>
      </p:sp>
      <p:sp>
        <p:nvSpPr>
          <p:cNvPr id="17414" name="Reference description 1">
            <a:extLst>
              <a:ext uri="{FF2B5EF4-FFF2-40B4-BE49-F238E27FC236}">
                <a16:creationId xmlns:a16="http://schemas.microsoft.com/office/drawing/2014/main" id="{5B3435C5-400A-4724-80AE-DE63DF3AEAAB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SIH26171 and evaluation criteria, cited in the project blueprint</a:t>
            </a:r>
          </a:p>
        </p:txBody>
      </p:sp>
      <p:sp>
        <p:nvSpPr>
          <p:cNvPr id="17415" name="Reference divider 1">
            <a:extLst>
              <a:ext uri="{FF2B5EF4-FFF2-40B4-BE49-F238E27FC236}">
                <a16:creationId xmlns:a16="http://schemas.microsoft.com/office/drawing/2014/main" id="{C10AF609-C879-4B74-878C-30DD4C87086B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0791825" cy="0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16" name="Reference title 2">
            <a:extLst>
              <a:ext uri="{FF2B5EF4-FFF2-40B4-BE49-F238E27FC236}">
                <a16:creationId xmlns:a16="http://schemas.microsoft.com/office/drawing/2014/main" id="{4F1705C6-383C-4B2D-88FE-9BE14A92FBC5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481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74F8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ONNX Runtime Web</a:t>
            </a:r>
          </a:p>
        </p:txBody>
      </p:sp>
      <p:sp>
        <p:nvSpPr>
          <p:cNvPr id="17417" name="Reference description 2">
            <a:extLst>
              <a:ext uri="{FF2B5EF4-FFF2-40B4-BE49-F238E27FC236}">
                <a16:creationId xmlns:a16="http://schemas.microsoft.com/office/drawing/2014/main" id="{B055671F-1204-4862-96BC-7D3A08EAC880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Browser inference and WebGPU / WebAssembly execution providers</a:t>
            </a:r>
          </a:p>
        </p:txBody>
      </p:sp>
      <p:sp>
        <p:nvSpPr>
          <p:cNvPr id="17418" name="Reference link 2">
            <a:extLst>
              <a:ext uri="{FF2B5EF4-FFF2-40B4-BE49-F238E27FC236}">
                <a16:creationId xmlns:a16="http://schemas.microsoft.com/office/drawing/2014/main" id="{25ECD9D4-DE02-4873-B364-EEFE5AEC4B62}"/>
              </a:ext>
            </a:extLst>
          </p:cNvPr>
          <p:cNvSpPr>
            <a:spLocks noGrp="1"/>
          </p:cNvSpPr>
          <p:nvPr/>
        </p:nvSpPr>
        <p:spPr>
          <a:xfrm>
            <a:off x="6429375" y="2943225"/>
            <a:ext cx="5105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9BE"/>
                </a:solidFill>
                <a:latin typeface="Arial"/>
                <a:ea typeface="Arial"/>
                <a:cs typeface="Arial"/>
              </a:defRPr>
            </a:pPr>
            <a:r>
              <a:rPr kumimoji="0" sz="1050" b="0" i="0" u="sng" strike="noStrike" kern="1200" cap="none" spc="0" normalizeH="0" baseline="0" noProof="0">
                <a:ln>
                  <a:noFill/>
                </a:ln>
                <a:solidFill>
                  <a:srgbClr val="0879BE"/>
                </a:solidFill>
                <a:effectLst/>
                <a:uLnTx/>
                <a:uFillTx/>
                <a:latin typeface="Arial"/>
                <a:ea typeface="Arial"/>
                <a:cs typeface="Arial"/>
                <a:hlinkClick r:id="rId4"/>
              </a:rPr>
              <a:t>https://onnxruntime.ai/docs/tutorials/web/</a:t>
            </a:r>
          </a:p>
        </p:txBody>
      </p:sp>
      <p:sp>
        <p:nvSpPr>
          <p:cNvPr id="17419" name="Reference divider 2">
            <a:extLst>
              <a:ext uri="{FF2B5EF4-FFF2-40B4-BE49-F238E27FC236}">
                <a16:creationId xmlns:a16="http://schemas.microsoft.com/office/drawing/2014/main" id="{CF8B929D-E986-4B71-9EA3-6155E5022F32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10791825" cy="0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20" name="Reference title 3">
            <a:extLst>
              <a:ext uri="{FF2B5EF4-FFF2-40B4-BE49-F238E27FC236}">
                <a16:creationId xmlns:a16="http://schemas.microsoft.com/office/drawing/2014/main" id="{30FD0602-7980-4FCB-93F5-E734664A8A1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481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74F8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Transformers.js WebGPU guide</a:t>
            </a:r>
          </a:p>
        </p:txBody>
      </p:sp>
      <p:sp>
        <p:nvSpPr>
          <p:cNvPr id="17421" name="Reference description 3">
            <a:extLst>
              <a:ext uri="{FF2B5EF4-FFF2-40B4-BE49-F238E27FC236}">
                <a16:creationId xmlns:a16="http://schemas.microsoft.com/office/drawing/2014/main" id="{81FB77AF-9D8F-4FBF-827F-695029A82154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Browser model inference using WebGPU</a:t>
            </a:r>
          </a:p>
        </p:txBody>
      </p:sp>
      <p:sp>
        <p:nvSpPr>
          <p:cNvPr id="17422" name="Reference link 3">
            <a:extLst>
              <a:ext uri="{FF2B5EF4-FFF2-40B4-BE49-F238E27FC236}">
                <a16:creationId xmlns:a16="http://schemas.microsoft.com/office/drawing/2014/main" id="{7227AD8B-7B20-44DB-B7C0-9D1754564957}"/>
              </a:ext>
            </a:extLst>
          </p:cNvPr>
          <p:cNvSpPr>
            <a:spLocks noGrp="1"/>
          </p:cNvSpPr>
          <p:nvPr/>
        </p:nvSpPr>
        <p:spPr>
          <a:xfrm>
            <a:off x="6429375" y="3924300"/>
            <a:ext cx="5105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9BE"/>
                </a:solidFill>
                <a:latin typeface="Arial"/>
                <a:ea typeface="Arial"/>
                <a:cs typeface="Arial"/>
              </a:defRPr>
            </a:pPr>
            <a:r>
              <a:rPr kumimoji="0" sz="1050" b="0" i="0" u="sng" strike="noStrike" kern="1200" cap="none" spc="0" normalizeH="0" baseline="0" noProof="0">
                <a:ln>
                  <a:noFill/>
                </a:ln>
                <a:solidFill>
                  <a:srgbClr val="0879BE"/>
                </a:solidFill>
                <a:effectLst/>
                <a:uLnTx/>
                <a:uFillTx/>
                <a:latin typeface="Arial"/>
                <a:ea typeface="Arial"/>
                <a:cs typeface="Arial"/>
                <a:hlinkClick r:id="rId5"/>
              </a:rPr>
              <a:t>https://huggingface.co/docs/transformers.js/guides/webgpu</a:t>
            </a:r>
          </a:p>
        </p:txBody>
      </p:sp>
      <p:sp>
        <p:nvSpPr>
          <p:cNvPr id="17423" name="Reference divider 3">
            <a:extLst>
              <a:ext uri="{FF2B5EF4-FFF2-40B4-BE49-F238E27FC236}">
                <a16:creationId xmlns:a16="http://schemas.microsoft.com/office/drawing/2014/main" id="{6AD795C3-204F-43C9-8C29-0B38776CF3F8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791825" cy="0"/>
          </a:xfrm>
          <a:prstGeom prst="line">
            <a:avLst/>
          </a:prstGeom>
          <a:noFill/>
          <a:ln w="9525">
            <a:solidFill>
              <a:srgbClr val="DDE6ED"/>
            </a:solidFill>
            <a:prstDash val="solid"/>
          </a:ln>
        </p:spPr>
      </p:sp>
      <p:sp>
        <p:nvSpPr>
          <p:cNvPr id="17424" name="Reference title 4">
            <a:extLst>
              <a:ext uri="{FF2B5EF4-FFF2-40B4-BE49-F238E27FC236}">
                <a16:creationId xmlns:a16="http://schemas.microsoft.com/office/drawing/2014/main" id="{361E4FA4-AC64-4C5C-B93E-C68CCACD0092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4810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74F87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174F8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Chrome Extensions content scripts</a:t>
            </a:r>
          </a:p>
        </p:txBody>
      </p:sp>
      <p:sp>
        <p:nvSpPr>
          <p:cNvPr id="17425" name="Reference description 4">
            <a:extLst>
              <a:ext uri="{FF2B5EF4-FFF2-40B4-BE49-F238E27FC236}">
                <a16:creationId xmlns:a16="http://schemas.microsoft.com/office/drawing/2014/main" id="{281AD03E-3742-4B40-B673-6A5060D687E3}"/>
              </a:ext>
            </a:extLst>
          </p:cNvPr>
          <p:cNvSpPr>
            <a:spLocks noGrp="1"/>
          </p:cNvSpPr>
          <p:nvPr/>
        </p:nvSpPr>
        <p:spPr>
          <a:xfrm>
            <a:off x="685800" y="5114925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17212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DOM access and extension context</a:t>
            </a:r>
          </a:p>
        </p:txBody>
      </p:sp>
      <p:sp>
        <p:nvSpPr>
          <p:cNvPr id="17426" name="Reference link 4">
            <a:extLst>
              <a:ext uri="{FF2B5EF4-FFF2-40B4-BE49-F238E27FC236}">
                <a16:creationId xmlns:a16="http://schemas.microsoft.com/office/drawing/2014/main" id="{07F79ACD-AE0B-4334-8462-C2AAF6137FE2}"/>
              </a:ext>
            </a:extLst>
          </p:cNvPr>
          <p:cNvSpPr>
            <a:spLocks noGrp="1"/>
          </p:cNvSpPr>
          <p:nvPr/>
        </p:nvSpPr>
        <p:spPr>
          <a:xfrm>
            <a:off x="6429375" y="4905375"/>
            <a:ext cx="5105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0">
                <a:solidFill>
                  <a:srgbClr val="0879BE"/>
                </a:solidFill>
                <a:latin typeface="Arial"/>
                <a:ea typeface="Arial"/>
                <a:cs typeface="Arial"/>
              </a:defRPr>
            </a:pPr>
            <a:r>
              <a:rPr kumimoji="0" sz="1050" b="0" i="0" u="sng" strike="noStrike" kern="1200" cap="none" spc="0" normalizeH="0" baseline="0" noProof="0">
                <a:ln>
                  <a:noFill/>
                </a:ln>
                <a:solidFill>
                  <a:srgbClr val="0879BE"/>
                </a:solidFill>
                <a:effectLst/>
                <a:uLnTx/>
                <a:uFillTx/>
                <a:latin typeface="Arial"/>
                <a:ea typeface="Arial"/>
                <a:cs typeface="Arial"/>
                <a:hlinkClick r:id="rId6"/>
              </a:rPr>
              <a:t>https://developer.chrome.com/docs/extensions/develop/concepts/content-scripts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ECE4FF29-2459-88BF-D9CA-697D74F6A27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212731" y="6423818"/>
            <a:ext cx="4308987" cy="365125"/>
          </a:xfrm>
        </p:spPr>
        <p:txBody>
          <a:bodyPr/>
          <a:lstStyle/>
          <a:p>
            <a:pPr>
              <a:buNone/>
            </a:pPr>
            <a:r>
              <a:rPr lang="en-IN" sz="1400" b="1" dirty="0">
                <a:solidFill>
                  <a:schemeClr val="bg1"/>
                </a:solidFill>
              </a:rPr>
              <a:t>SMART INDIA HACKATHON 2026 - PRIVAGENT</a:t>
            </a:r>
            <a:endParaRPr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85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Microsoft Office PowerPoint</Application>
  <DocSecurity>0</DocSecurity>
  <PresentationFormat>Widescreen</PresentationFormat>
  <Paragraphs>149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PRIVAGENT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Atharav Tayade</cp:lastModifiedBy>
  <cp:revision>1</cp:revision>
  <dcterms:created xsi:type="dcterms:W3CDTF">2026-09-30T15:57:35Z</dcterms:created>
  <dcterms:modified xsi:type="dcterms:W3CDTF">2026-09-30T17:00:53Z</dcterms:modified>
</cp:coreProperties>
</file>